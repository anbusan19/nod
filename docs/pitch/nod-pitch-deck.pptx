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a95a0b7-1820-c855-bcb0-1a6812b51958}">
          <p14:sldIdLst>
            <p14:sldId id="256"/>
          </p14:sldIdLst>
        </p14:section>
        <p14:section name="Problem" id="{af8c8052-c946-d4e4-9c06-6a7a045e3d5e}">
          <p14:sldIdLst>
            <p14:sldId id="257"/>
          </p14:sldIdLst>
        </p14:section>
        <p14:section name="Solution" id="{99be3d80-1a41-5814-0bc3-e08c3510ca92}">
          <p14:sldIdLst>
            <p14:sldId id="258"/>
          </p14:sldIdLst>
        </p14:section>
        <p14:section name="Product" id="{74a1820e-c407-6baa-d58f-d6a5549abd6d}">
          <p14:sldIdLst>
            <p14:sldId id="259"/>
            <p14:sldId id="260"/>
            <p14:sldId id="261"/>
          </p14:sldIdLst>
        </p14:section>
        <p14:section name="Solana" id="{f318dfdf-9853-d954-b8c0-b159028f8fdb}">
          <p14:sldIdLst>
            <p14:sldId id="262"/>
          </p14:sldIdLst>
        </p14:section>
        <p14:section name="Architecture" id="{8345e60f-c263-4c0d-b5c4-f080f5c000c2}">
          <p14:sldIdLst>
            <p14:sldId id="263"/>
          </p14:sldIdLst>
        </p14:section>
        <p14:section name="Open" id="{dad2c294-5c14-38e7-43f0-32705b44965d}">
          <p14:sldIdLst>
            <p14:sldId id="264"/>
          </p14:sldIdLst>
        </p14:section>
        <p14:section name="Status" id="{eaffd699-6ddd-2227-d98e-48ac69612a44}">
          <p14:sldIdLst>
            <p14:sldId id="265"/>
          </p14:sldIdLst>
        </p14:section>
        <p14:section name="Roadmap" id="{0def1db2-8b7e-504e-fc2e-585e11e718e1}">
          <p14:sldIdLst>
            <p14:sldId id="266"/>
          </p14:sldIdLst>
        </p14:section>
        <p14:section name="Close" id="{9cd9fa90-a313-a8d3-1c12-9c2981ed8510}">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 is an approval layer for AI agents on Solana. The agent proposes, your phone decodes, you approve with your fingerprint, your wallet signs. Nothing moves without your Nod.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are starting to pay for APIs, trade and rebalance. Today there are two bad options. Hot keys are fast but one injection can drain a wallet. Signing everything in a wallet UI is safe, but people approve opaque bytes. What is missing is a human in the loop that reads the transaction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agent proposes a transaction and a reason. Your phone decodes and simulates the real bytes. You approve with biometrics. Your own wallet signs over Mobile Wallet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card is built on the phone from the transaction itself, so it does not rely on the agent or the backend. You see who, how much, to whom, which program, and your balance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can say anything. Nod compares what the agent claimed with what the transaction actually does. A mismatch is flagged before you ever reach an approve button, and anything over the hard cap is blocked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are set per agent, in the app, and enforced before anything reaches your phone. Auto for small expected payments, Nod for everything else, Block for what should never happen. On top: daily caps, allowed recipients, freeze and key revocation.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 is built on the Solana Mobile stack. Mobile Wallet Adapter signing, any MWA wallet and Seed Vault on a Seeker, the Android biometric prompt, push with only a proposal id, local simulation, and Jupiter swap decoding on mainnet.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a messenger and a policy gate. It cannot sign. The phone decodes, simulates and verifies. Keys stay in the wallet. Everything that protects your money happens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run their own backend with one command and connect any agent through the SDK or plain HTTP. There is an OpenAPI spec and a conformance suite for other implementations. Everything is MIT licensed.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hackathon prototype. These pieces are confirmed on a real Android phone against devnet. It is not audited, and in this version auto-approved proposals are recorded but not executed by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Squads multisig and on-chain spending limits as the default treasury, and more program decoders. Later: iOS and hardware-key approvers, policy as code, agent reputation, and SKR integration for the Seeker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nothing moves without your Nod. The app, the open-source backend and the SDK all exist today and run on devnet. Add the APK link, repository, demo video and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7060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70606"/>
        </a:solidFill>
      </p:bgPr>
    </p:bg>
    <p:spTree>
      <p:nvGrpSpPr>
        <p:cNvPr id="1" name=""/>
        <p:cNvGrpSpPr/>
        <p:nvPr/>
      </p:nvGrpSpPr>
      <p:grpSpPr>
        <a:xfrm>
          <a:off x="0" y="0"/>
          <a:ext cx="0" cy="0"/>
          <a:chOff x="0" y="0"/>
          <a:chExt cx="0" cy="0"/>
        </a:xfrm>
      </p:grpSpPr>
      <p:sp>
        <p:nvSpPr>
          <p:cNvPr id="2" name="Shape 0"/>
          <p:cNvSpPr/>
          <p:nvPr/>
        </p:nvSpPr>
        <p:spPr>
          <a:xfrm>
            <a:off x="457200" y="0"/>
            <a:ext cx="0" cy="6858000"/>
          </a:xfrm>
          <a:prstGeom prst="line">
            <a:avLst/>
          </a:prstGeom>
          <a:noFill/>
          <a:ln w="9525">
            <a:solidFill>
              <a:srgbClr val="292727"/>
            </a:solidFill>
            <a:prstDash val="solid"/>
          </a:ln>
        </p:spPr>
      </p:sp>
      <p:sp>
        <p:nvSpPr>
          <p:cNvPr id="3" name="Shape 1"/>
          <p:cNvSpPr/>
          <p:nvPr/>
        </p:nvSpPr>
        <p:spPr>
          <a:xfrm>
            <a:off x="11734495" y="0"/>
            <a:ext cx="0" cy="6858000"/>
          </a:xfrm>
          <a:prstGeom prst="line">
            <a:avLst/>
          </a:prstGeom>
          <a:noFill/>
          <a:ln w="9525">
            <a:solidFill>
              <a:srgbClr val="292727"/>
            </a:solidFill>
            <a:prstDash val="solid"/>
          </a:ln>
        </p:spPr>
      </p:sp>
      <p:sp>
        <p:nvSpPr>
          <p:cNvPr id="4" name="Text 2"/>
          <p:cNvSpPr/>
          <p:nvPr/>
        </p:nvSpPr>
        <p:spPr>
          <a:xfrm>
            <a:off x="914400" y="6355080"/>
            <a:ext cx="5486400" cy="274320"/>
          </a:xfrm>
          <a:prstGeom prst="rect">
            <a:avLst/>
          </a:prstGeom>
          <a:noFill/>
          <a:ln/>
        </p:spPr>
        <p:txBody>
          <a:bodyPr wrap="square" lIns="0" tIns="0" rIns="0" bIns="0" rtlCol="0" anchor="ctr"/>
          <a:lstStyle/>
          <a:p>
            <a:pPr indent="0" marL="0">
              <a:buNone/>
            </a:pPr>
            <a:r>
              <a:rPr lang="en-US" sz="1000" spc="100" kern="0" dirty="0">
                <a:solidFill>
                  <a:srgbClr val="9C9A9A"/>
                </a:solidFill>
                <a:latin typeface="Geist Mono" pitchFamily="34" charset="0"/>
                <a:ea typeface="Geist Mono" pitchFamily="34" charset="-122"/>
                <a:cs typeface="Geist Mono" pitchFamily="34" charset="-120"/>
              </a:rPr>
              <a:t>NOD  ·  NOTHING MOVES WITHOUT YOUR NOD</a:t>
            </a:r>
            <a:endParaRPr lang="en-US" sz="10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Braille knot" descr="knot-lavender.png">    </p:cNvPr>
          <p:cNvPicPr>
            <a:picLocks noChangeAspect="1"/>
          </p:cNvPicPr>
          <p:nvPr/>
        </p:nvPicPr>
        <p:blipFill>
          <a:blip r:embed="rId1"/>
          <a:stretch>
            <a:fillRect/>
          </a:stretch>
        </p:blipFill>
        <p:spPr>
          <a:xfrm>
            <a:off x="6858000" y="914400"/>
            <a:ext cx="5852160" cy="5852160"/>
          </a:xfrm>
          <a:prstGeom prst="rect">
            <a:avLst/>
          </a:prstGeom>
        </p:spPr>
      </p:pic>
      <p:sp>
        <p:nvSpPr>
          <p:cNvPr id="4" name="Text 0"/>
          <p:cNvSpPr txBox="1"/>
          <p:nvPr/>
        </p:nvSpPr>
        <p:spPr>
          <a:xfrm>
            <a:off x="914400" y="914400"/>
            <a:ext cx="64008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CLOCK IN  ·  A SOLANA MOBILE HACKATHON</a:t>
            </a:r>
            <a:endParaRPr lang="en-US" sz="1100" dirty="0"/>
          </a:p>
        </p:txBody>
      </p:sp>
      <p:sp>
        <p:nvSpPr>
          <p:cNvPr id="5" name="Title"/>
          <p:cNvSpPr txBox="1"/>
          <p:nvPr/>
        </p:nvSpPr>
        <p:spPr>
          <a:xfrm>
            <a:off x="914400" y="1737360"/>
            <a:ext cx="6583680" cy="2286000"/>
          </a:xfrm>
          <a:prstGeom prst="rect">
            <a:avLst/>
          </a:prstGeom>
          <a:noFill/>
          <a:ln/>
        </p:spPr>
        <p:txBody>
          <a:bodyPr wrap="square" lIns="0" tIns="0" rIns="0" bIns="0" rtlCol="0" anchor="t"/>
          <a:lstStyle/>
          <a:p>
            <a:pPr indent="0" marL="0">
              <a:buNone/>
            </a:pPr>
            <a:r>
              <a:rPr lang="en-US" sz="4800" b="1" dirty="0">
                <a:solidFill>
                  <a:schemeClr val="tx1"/>
                </a:solidFill>
                <a:latin typeface="Plus Jakarta Sans" pitchFamily="34" charset="0"/>
                <a:ea typeface="Plus Jakarta Sans" pitchFamily="34" charset="-122"/>
                <a:cs typeface="Plus Jakarta Sans" pitchFamily="34" charset="-120"/>
              </a:rPr>
              <a:t>Nothing moves</a:t>
            </a:r>
            <a:endParaRPr lang="en-US" sz="4800" dirty="0"/>
          </a:p>
          <a:p>
            <a:pPr indent="0" marL="0">
              <a:buNone/>
            </a:pPr>
            <a:r>
              <a:rPr lang="en-US" sz="4800" b="1" dirty="0">
                <a:solidFill>
                  <a:schemeClr val="tx1"/>
                </a:solidFill>
                <a:latin typeface="Plus Jakarta Sans" pitchFamily="34" charset="0"/>
                <a:ea typeface="Plus Jakarta Sans" pitchFamily="34" charset="-122"/>
                <a:cs typeface="Plus Jakarta Sans" pitchFamily="34" charset="-120"/>
              </a:rPr>
              <a:t>without your </a:t>
            </a:r>
            <a:pPr indent="0" marL="0">
              <a:buNone/>
            </a:pPr>
            <a:r>
              <a:rPr lang="en-US" sz="4800" b="1" dirty="0">
                <a:solidFill>
                  <a:schemeClr val="accent1"/>
                </a:solidFill>
                <a:latin typeface="Plus Jakarta Sans" pitchFamily="34" charset="0"/>
                <a:ea typeface="Plus Jakarta Sans" pitchFamily="34" charset="-122"/>
                <a:cs typeface="Plus Jakarta Sans" pitchFamily="34" charset="-120"/>
              </a:rPr>
              <a:t>Nod.</a:t>
            </a:r>
            <a:endParaRPr lang="en-US" sz="4800" dirty="0"/>
          </a:p>
        </p:txBody>
      </p:sp>
      <p:sp>
        <p:nvSpPr>
          <p:cNvPr id="6" name="Text 2"/>
          <p:cNvSpPr txBox="1"/>
          <p:nvPr/>
        </p:nvSpPr>
        <p:spPr>
          <a:xfrm>
            <a:off x="914400" y="4206240"/>
            <a:ext cx="5303520" cy="822960"/>
          </a:xfrm>
          <a:prstGeom prst="rect">
            <a:avLst/>
          </a:prstGeom>
          <a:noFill/>
          <a:ln/>
        </p:spPr>
        <p:txBody>
          <a:bodyPr wrap="square" lIns="0" tIns="0" rIns="0" bIns="0" rtlCol="0" anchor="t"/>
          <a:lstStyle/>
          <a:p>
            <a:pPr indent="0" marL="0">
              <a:buNone/>
            </a:pPr>
            <a:r>
              <a:rPr lang="en-US" sz="2000" dirty="0">
                <a:solidFill>
                  <a:schemeClr val="tx2"/>
                </a:solidFill>
                <a:latin typeface="Plus Jakarta Sans" pitchFamily="34" charset="0"/>
                <a:ea typeface="Plus Jakarta Sans" pitchFamily="34" charset="-122"/>
                <a:cs typeface="Plus Jakarta Sans" pitchFamily="34" charset="-120"/>
              </a:rPr>
              <a:t>The approval layer for AI agents on Solana.</a:t>
            </a:r>
            <a:endParaRPr lang="en-US" sz="2000" dirty="0"/>
          </a:p>
        </p:txBody>
      </p:sp>
      <p:sp>
        <p:nvSpPr>
          <p:cNvPr id="7" name="Text 3"/>
          <p:cNvSpPr txBox="1"/>
          <p:nvPr/>
        </p:nvSpPr>
        <p:spPr>
          <a:xfrm>
            <a:off x="914400" y="6035040"/>
            <a:ext cx="64008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ANDROID  ·  MOBILE WALLET ADAPTER  ·  DEVNET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01 · THE PROBLEM</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Agents are starting to move money.</a:t>
            </a:r>
            <a:endParaRPr lang="en-US" sz="3400" dirty="0"/>
          </a:p>
        </p:txBody>
      </p:sp>
      <p:sp>
        <p:nvSpPr>
          <p:cNvPr id="5" name="Card"/>
          <p:cNvSpPr/>
          <p:nvPr/>
        </p:nvSpPr>
        <p:spPr>
          <a:xfrm>
            <a:off x="914400" y="2377440"/>
            <a:ext cx="5029200" cy="2468880"/>
          </a:xfrm>
          <a:prstGeom prst="roundRect">
            <a:avLst>
              <a:gd name="adj" fmla="val 2963"/>
            </a:avLst>
          </a:prstGeom>
          <a:solidFill>
            <a:schemeClr val="bg2"/>
          </a:solidFill>
          <a:ln w="12700">
            <a:solidFill>
              <a:schemeClr val="accent6"/>
            </a:solidFill>
            <a:prstDash val="solid"/>
          </a:ln>
        </p:spPr>
      </p:sp>
      <p:sp>
        <p:nvSpPr>
          <p:cNvPr id="6" name="Shape 3"/>
          <p:cNvSpPr/>
          <p:nvPr/>
        </p:nvSpPr>
        <p:spPr>
          <a:xfrm>
            <a:off x="1234440" y="2724912"/>
            <a:ext cx="128016" cy="128016"/>
          </a:xfrm>
          <a:prstGeom prst="ellipse">
            <a:avLst/>
          </a:prstGeom>
          <a:solidFill>
            <a:schemeClr val="accent4"/>
          </a:solidFill>
          <a:ln w="12700">
            <a:solidFill>
              <a:schemeClr val="accent4"/>
            </a:solidFill>
            <a:prstDash val="solid"/>
          </a:ln>
        </p:spPr>
      </p:sp>
      <p:sp>
        <p:nvSpPr>
          <p:cNvPr id="7" name="Text 4"/>
          <p:cNvSpPr txBox="1"/>
          <p:nvPr/>
        </p:nvSpPr>
        <p:spPr>
          <a:xfrm>
            <a:off x="1463040" y="2651760"/>
            <a:ext cx="2743200" cy="274320"/>
          </a:xfrm>
          <a:prstGeom prst="rect">
            <a:avLst/>
          </a:prstGeom>
          <a:noFill/>
          <a:ln/>
        </p:spPr>
        <p:txBody>
          <a:bodyPr wrap="square" lIns="0" tIns="0" rIns="0" bIns="0" rtlCol="0" anchor="ctr"/>
          <a:lstStyle/>
          <a:p>
            <a:pPr indent="0" marL="0">
              <a:buNone/>
            </a:pPr>
            <a:r>
              <a:rPr lang="en-US" sz="1100" spc="200" kern="0" dirty="0">
                <a:solidFill>
                  <a:schemeClr val="accent4"/>
                </a:solidFill>
                <a:latin typeface="Geist Mono" pitchFamily="34" charset="0"/>
                <a:ea typeface="Geist Mono" pitchFamily="34" charset="-122"/>
                <a:cs typeface="Geist Mono" pitchFamily="34" charset="-120"/>
              </a:rPr>
              <a:t>OPTION A</a:t>
            </a:r>
            <a:endParaRPr lang="en-US" sz="1100" dirty="0"/>
          </a:p>
        </p:txBody>
      </p:sp>
      <p:sp>
        <p:nvSpPr>
          <p:cNvPr id="8" name="Text 5"/>
          <p:cNvSpPr txBox="1"/>
          <p:nvPr/>
        </p:nvSpPr>
        <p:spPr>
          <a:xfrm>
            <a:off x="1234440" y="3200400"/>
            <a:ext cx="4389120" cy="457200"/>
          </a:xfrm>
          <a:prstGeom prst="rect">
            <a:avLst/>
          </a:prstGeom>
          <a:noFill/>
          <a:ln/>
        </p:spPr>
        <p:txBody>
          <a:bodyPr wrap="square" lIns="0" tIns="0" rIns="0" bIns="0" rtlCol="0" anchor="ctr"/>
          <a:lstStyle/>
          <a:p>
            <a:pPr indent="0" marL="0">
              <a:buNone/>
            </a:pPr>
            <a:r>
              <a:rPr lang="en-US" sz="2200" dirty="0">
                <a:solidFill>
                  <a:schemeClr val="tx1"/>
                </a:solidFill>
                <a:latin typeface="Plus Jakarta Sans" pitchFamily="34" charset="0"/>
                <a:ea typeface="Plus Jakarta Sans" pitchFamily="34" charset="-122"/>
                <a:cs typeface="Plus Jakarta Sans" pitchFamily="34" charset="-120"/>
              </a:rPr>
              <a:t>Give the agent a hot key</a:t>
            </a:r>
            <a:endParaRPr lang="en-US" sz="2200" dirty="0"/>
          </a:p>
        </p:txBody>
      </p:sp>
      <p:sp>
        <p:nvSpPr>
          <p:cNvPr id="9" name="Text 6"/>
          <p:cNvSpPr txBox="1"/>
          <p:nvPr/>
        </p:nvSpPr>
        <p:spPr>
          <a:xfrm>
            <a:off x="1234440" y="3749040"/>
            <a:ext cx="4389120" cy="914400"/>
          </a:xfrm>
          <a:prstGeom prst="rect">
            <a:avLst/>
          </a:prstGeom>
          <a:noFill/>
          <a:ln/>
        </p:spPr>
        <p:txBody>
          <a:bodyPr wrap="square" lIns="0" tIns="0" rIns="0" bIns="0" rtlCol="0" anchor="t"/>
          <a:lstStyle/>
          <a:p>
            <a:pPr indent="0" marL="0">
              <a:buNone/>
            </a:pPr>
            <a:r>
              <a:rPr lang="en-US" sz="1500" dirty="0">
                <a:solidFill>
                  <a:schemeClr val="tx2"/>
                </a:solidFill>
                <a:latin typeface="Plus Jakarta Sans" pitchFamily="34" charset="0"/>
                <a:ea typeface="Plus Jakarta Sans" pitchFamily="34" charset="-122"/>
                <a:cs typeface="Plus Jakarta Sans" pitchFamily="34" charset="-120"/>
              </a:rPr>
              <a:t>Fast, but one prompt injection or bug can drain the wallet.</a:t>
            </a:r>
            <a:endParaRPr lang="en-US" sz="1500" dirty="0"/>
          </a:p>
        </p:txBody>
      </p:sp>
      <p:sp>
        <p:nvSpPr>
          <p:cNvPr id="10" name="Card"/>
          <p:cNvSpPr/>
          <p:nvPr/>
        </p:nvSpPr>
        <p:spPr>
          <a:xfrm>
            <a:off x="6245352" y="2377440"/>
            <a:ext cx="5029200" cy="2468880"/>
          </a:xfrm>
          <a:prstGeom prst="roundRect">
            <a:avLst>
              <a:gd name="adj" fmla="val 2963"/>
            </a:avLst>
          </a:prstGeom>
          <a:solidFill>
            <a:schemeClr val="bg2"/>
          </a:solidFill>
          <a:ln w="12700">
            <a:solidFill>
              <a:schemeClr val="accent6"/>
            </a:solidFill>
            <a:prstDash val="solid"/>
          </a:ln>
        </p:spPr>
      </p:sp>
      <p:sp>
        <p:nvSpPr>
          <p:cNvPr id="11" name="Shape 8"/>
          <p:cNvSpPr/>
          <p:nvPr/>
        </p:nvSpPr>
        <p:spPr>
          <a:xfrm>
            <a:off x="6565392" y="2724912"/>
            <a:ext cx="128016" cy="128016"/>
          </a:xfrm>
          <a:prstGeom prst="ellipse">
            <a:avLst/>
          </a:prstGeom>
          <a:solidFill>
            <a:schemeClr val="accent3"/>
          </a:solidFill>
          <a:ln w="12700">
            <a:solidFill>
              <a:schemeClr val="accent3"/>
            </a:solidFill>
            <a:prstDash val="solid"/>
          </a:ln>
        </p:spPr>
      </p:sp>
      <p:sp>
        <p:nvSpPr>
          <p:cNvPr id="12" name="Text 9"/>
          <p:cNvSpPr txBox="1"/>
          <p:nvPr/>
        </p:nvSpPr>
        <p:spPr>
          <a:xfrm>
            <a:off x="6793992" y="2651760"/>
            <a:ext cx="2743200" cy="274320"/>
          </a:xfrm>
          <a:prstGeom prst="rect">
            <a:avLst/>
          </a:prstGeom>
          <a:noFill/>
          <a:ln/>
        </p:spPr>
        <p:txBody>
          <a:bodyPr wrap="square" lIns="0" tIns="0" rIns="0" bIns="0" rtlCol="0" anchor="ctr"/>
          <a:lstStyle/>
          <a:p>
            <a:pPr indent="0" marL="0">
              <a:buNone/>
            </a:pPr>
            <a:r>
              <a:rPr lang="en-US" sz="1100" spc="200" kern="0" dirty="0">
                <a:solidFill>
                  <a:schemeClr val="accent3"/>
                </a:solidFill>
                <a:latin typeface="Geist Mono" pitchFamily="34" charset="0"/>
                <a:ea typeface="Geist Mono" pitchFamily="34" charset="-122"/>
                <a:cs typeface="Geist Mono" pitchFamily="34" charset="-120"/>
              </a:rPr>
              <a:t>OPTION B</a:t>
            </a:r>
            <a:endParaRPr lang="en-US" sz="1100" dirty="0"/>
          </a:p>
        </p:txBody>
      </p:sp>
      <p:sp>
        <p:nvSpPr>
          <p:cNvPr id="13" name="Text 10"/>
          <p:cNvSpPr txBox="1"/>
          <p:nvPr/>
        </p:nvSpPr>
        <p:spPr>
          <a:xfrm>
            <a:off x="6565392" y="3200400"/>
            <a:ext cx="4389120" cy="457200"/>
          </a:xfrm>
          <a:prstGeom prst="rect">
            <a:avLst/>
          </a:prstGeom>
          <a:noFill/>
          <a:ln/>
        </p:spPr>
        <p:txBody>
          <a:bodyPr wrap="square" lIns="0" tIns="0" rIns="0" bIns="0" rtlCol="0" anchor="ctr"/>
          <a:lstStyle/>
          <a:p>
            <a:pPr indent="0" marL="0">
              <a:buNone/>
            </a:pPr>
            <a:r>
              <a:rPr lang="en-US" sz="2200" dirty="0">
                <a:solidFill>
                  <a:schemeClr val="tx1"/>
                </a:solidFill>
                <a:latin typeface="Plus Jakarta Sans" pitchFamily="34" charset="0"/>
                <a:ea typeface="Plus Jakarta Sans" pitchFamily="34" charset="-122"/>
                <a:cs typeface="Plus Jakarta Sans" pitchFamily="34" charset="-120"/>
              </a:rPr>
              <a:t>Sign everything in a wallet</a:t>
            </a:r>
            <a:endParaRPr lang="en-US" sz="2200" dirty="0"/>
          </a:p>
        </p:txBody>
      </p:sp>
      <p:sp>
        <p:nvSpPr>
          <p:cNvPr id="14" name="Text 11"/>
          <p:cNvSpPr txBox="1"/>
          <p:nvPr/>
        </p:nvSpPr>
        <p:spPr>
          <a:xfrm>
            <a:off x="6565392" y="3749040"/>
            <a:ext cx="4389120" cy="914400"/>
          </a:xfrm>
          <a:prstGeom prst="rect">
            <a:avLst/>
          </a:prstGeom>
          <a:noFill/>
          <a:ln/>
        </p:spPr>
        <p:txBody>
          <a:bodyPr wrap="square" lIns="0" tIns="0" rIns="0" bIns="0" rtlCol="0" anchor="t"/>
          <a:lstStyle/>
          <a:p>
            <a:pPr indent="0" marL="0">
              <a:buNone/>
            </a:pPr>
            <a:r>
              <a:rPr lang="en-US" sz="1500" dirty="0">
                <a:solidFill>
                  <a:schemeClr val="tx2"/>
                </a:solidFill>
                <a:latin typeface="Plus Jakarta Sans" pitchFamily="34" charset="0"/>
                <a:ea typeface="Plus Jakarta Sans" pitchFamily="34" charset="-122"/>
                <a:cs typeface="Plus Jakarta Sans" pitchFamily="34" charset="-120"/>
              </a:rPr>
              <a:t>Safe, but a wallet shows opaque bytes, so people tap approve without knowing what they sign.</a:t>
            </a:r>
            <a:endParaRPr lang="en-US" sz="1500" dirty="0"/>
          </a:p>
        </p:txBody>
      </p:sp>
      <p:sp>
        <p:nvSpPr>
          <p:cNvPr id="15" name="Text 12"/>
          <p:cNvSpPr txBox="1"/>
          <p:nvPr/>
        </p:nvSpPr>
        <p:spPr>
          <a:xfrm>
            <a:off x="914400" y="5257800"/>
            <a:ext cx="10360152" cy="822960"/>
          </a:xfrm>
          <a:prstGeom prst="rect">
            <a:avLst/>
          </a:prstGeom>
          <a:noFill/>
          <a:ln/>
        </p:spPr>
        <p:txBody>
          <a:bodyPr wrap="square" lIns="0" tIns="0" rIns="0" bIns="0" rtlCol="0" anchor="t"/>
          <a:lstStyle/>
          <a:p>
            <a:pPr indent="0" marL="0">
              <a:buNone/>
            </a:pPr>
            <a:r>
              <a:rPr lang="en-US" sz="2000" dirty="0">
                <a:solidFill>
                  <a:schemeClr val="accent1"/>
                </a:solidFill>
                <a:latin typeface="Plus Jakarta Sans" pitchFamily="34" charset="0"/>
                <a:ea typeface="Plus Jakarta Sans" pitchFamily="34" charset="-122"/>
                <a:cs typeface="Plus Jakarta Sans" pitchFamily="34" charset="-120"/>
              </a:rPr>
              <a:t>What is missing: </a:t>
            </a:r>
            <a:pPr indent="0" marL="0">
              <a:buNone/>
            </a:pPr>
            <a:r>
              <a:rPr lang="en-US" sz="2000" dirty="0">
                <a:solidFill>
                  <a:schemeClr val="tx1"/>
                </a:solidFill>
                <a:latin typeface="Plus Jakarta Sans" pitchFamily="34" charset="0"/>
                <a:ea typeface="Plus Jakarta Sans" pitchFamily="34" charset="-122"/>
                <a:cs typeface="Plus Jakarta Sans" pitchFamily="34" charset="-120"/>
              </a:rPr>
              <a:t>a human in the loop that reads the transaction for you.</a:t>
            </a:r>
            <a:endParaRPr lang="en-US" sz="20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02 · HOW NOD WORKS</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Four steps between an agent and your money.</a:t>
            </a:r>
            <a:endParaRPr lang="en-US" sz="3400" dirty="0"/>
          </a:p>
        </p:txBody>
      </p:sp>
      <p:sp>
        <p:nvSpPr>
          <p:cNvPr id="5" name="Card"/>
          <p:cNvSpPr/>
          <p:nvPr/>
        </p:nvSpPr>
        <p:spPr>
          <a:xfrm>
            <a:off x="914400" y="2743200"/>
            <a:ext cx="2377440" cy="3017520"/>
          </a:xfrm>
          <a:prstGeom prst="roundRect">
            <a:avLst>
              <a:gd name="adj" fmla="val 3077"/>
            </a:avLst>
          </a:prstGeom>
          <a:solidFill>
            <a:schemeClr val="bg2"/>
          </a:solidFill>
          <a:ln w="12700">
            <a:solidFill>
              <a:schemeClr val="accent6"/>
            </a:solidFill>
            <a:prstDash val="solid"/>
          </a:ln>
        </p:spPr>
      </p:sp>
      <p:sp>
        <p:nvSpPr>
          <p:cNvPr id="6" name="Text 3"/>
          <p:cNvSpPr txBox="1"/>
          <p:nvPr/>
        </p:nvSpPr>
        <p:spPr>
          <a:xfrm>
            <a:off x="1188720" y="3017520"/>
            <a:ext cx="182880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01</a:t>
            </a:r>
            <a:endParaRPr lang="en-US" sz="1100" dirty="0"/>
          </a:p>
        </p:txBody>
      </p:sp>
      <p:sp>
        <p:nvSpPr>
          <p:cNvPr id="7" name="Text 4"/>
          <p:cNvSpPr txBox="1"/>
          <p:nvPr/>
        </p:nvSpPr>
        <p:spPr>
          <a:xfrm>
            <a:off x="1188720" y="3611880"/>
            <a:ext cx="1828800" cy="822960"/>
          </a:xfrm>
          <a:prstGeom prst="rect">
            <a:avLst/>
          </a:prstGeom>
          <a:noFill/>
          <a:ln/>
        </p:spPr>
        <p:txBody>
          <a:bodyPr wrap="square" lIns="0" tIns="0" rIns="0" bIns="0" rtlCol="0" anchor="t"/>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The agent proposes</a:t>
            </a:r>
            <a:endParaRPr lang="en-US" sz="2000" dirty="0"/>
          </a:p>
        </p:txBody>
      </p:sp>
      <p:sp>
        <p:nvSpPr>
          <p:cNvPr id="8" name="Text 5"/>
          <p:cNvSpPr txBox="1"/>
          <p:nvPr/>
        </p:nvSpPr>
        <p:spPr>
          <a:xfrm>
            <a:off x="1188720" y="4480560"/>
            <a:ext cx="1828800" cy="114300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Sends a transaction and a one-line reason. It never holds the key.</a:t>
            </a:r>
            <a:endParaRPr lang="en-US" sz="1400" dirty="0"/>
          </a:p>
        </p:txBody>
      </p:sp>
      <p:sp>
        <p:nvSpPr>
          <p:cNvPr id="9" name="Card"/>
          <p:cNvSpPr/>
          <p:nvPr/>
        </p:nvSpPr>
        <p:spPr>
          <a:xfrm>
            <a:off x="3575304" y="2743200"/>
            <a:ext cx="2377440" cy="3017520"/>
          </a:xfrm>
          <a:prstGeom prst="roundRect">
            <a:avLst>
              <a:gd name="adj" fmla="val 3077"/>
            </a:avLst>
          </a:prstGeom>
          <a:solidFill>
            <a:schemeClr val="bg2"/>
          </a:solidFill>
          <a:ln w="12700">
            <a:solidFill>
              <a:schemeClr val="accent6"/>
            </a:solidFill>
            <a:prstDash val="solid"/>
          </a:ln>
        </p:spPr>
      </p:sp>
      <p:sp>
        <p:nvSpPr>
          <p:cNvPr id="10" name="Text 7"/>
          <p:cNvSpPr txBox="1"/>
          <p:nvPr/>
        </p:nvSpPr>
        <p:spPr>
          <a:xfrm>
            <a:off x="3849624" y="3017520"/>
            <a:ext cx="182880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02</a:t>
            </a:r>
            <a:endParaRPr lang="en-US" sz="1100" dirty="0"/>
          </a:p>
        </p:txBody>
      </p:sp>
      <p:sp>
        <p:nvSpPr>
          <p:cNvPr id="11" name="Text 8"/>
          <p:cNvSpPr txBox="1"/>
          <p:nvPr/>
        </p:nvSpPr>
        <p:spPr>
          <a:xfrm>
            <a:off x="3849624" y="3611880"/>
            <a:ext cx="1828800" cy="822960"/>
          </a:xfrm>
          <a:prstGeom prst="rect">
            <a:avLst/>
          </a:prstGeom>
          <a:noFill/>
          <a:ln/>
        </p:spPr>
        <p:txBody>
          <a:bodyPr wrap="square" lIns="0" tIns="0" rIns="0" bIns="0" rtlCol="0" anchor="t"/>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Your phone decodes</a:t>
            </a:r>
            <a:endParaRPr lang="en-US" sz="2000" dirty="0"/>
          </a:p>
        </p:txBody>
      </p:sp>
      <p:sp>
        <p:nvSpPr>
          <p:cNvPr id="12" name="Text 9"/>
          <p:cNvSpPr txBox="1"/>
          <p:nvPr/>
        </p:nvSpPr>
        <p:spPr>
          <a:xfrm>
            <a:off x="3849624" y="4480560"/>
            <a:ext cx="1828800" cy="114300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Reads the real bytes and simulates them locally.</a:t>
            </a:r>
            <a:endParaRPr lang="en-US" sz="1400" dirty="0"/>
          </a:p>
        </p:txBody>
      </p:sp>
      <p:sp>
        <p:nvSpPr>
          <p:cNvPr id="13" name="Card"/>
          <p:cNvSpPr/>
          <p:nvPr/>
        </p:nvSpPr>
        <p:spPr>
          <a:xfrm>
            <a:off x="6236208" y="2743200"/>
            <a:ext cx="2377440" cy="3017520"/>
          </a:xfrm>
          <a:prstGeom prst="roundRect">
            <a:avLst>
              <a:gd name="adj" fmla="val 3077"/>
            </a:avLst>
          </a:prstGeom>
          <a:solidFill>
            <a:schemeClr val="bg2"/>
          </a:solidFill>
          <a:ln w="12700">
            <a:solidFill>
              <a:schemeClr val="accent6"/>
            </a:solidFill>
            <a:prstDash val="solid"/>
          </a:ln>
        </p:spPr>
      </p:sp>
      <p:sp>
        <p:nvSpPr>
          <p:cNvPr id="14" name="Text 11"/>
          <p:cNvSpPr txBox="1"/>
          <p:nvPr/>
        </p:nvSpPr>
        <p:spPr>
          <a:xfrm>
            <a:off x="6510528" y="3017520"/>
            <a:ext cx="182880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03</a:t>
            </a:r>
            <a:endParaRPr lang="en-US" sz="1100" dirty="0"/>
          </a:p>
        </p:txBody>
      </p:sp>
      <p:sp>
        <p:nvSpPr>
          <p:cNvPr id="15" name="Text 12"/>
          <p:cNvSpPr txBox="1"/>
          <p:nvPr/>
        </p:nvSpPr>
        <p:spPr>
          <a:xfrm>
            <a:off x="6510528" y="3611880"/>
            <a:ext cx="1828800" cy="822960"/>
          </a:xfrm>
          <a:prstGeom prst="rect">
            <a:avLst/>
          </a:prstGeom>
          <a:noFill/>
          <a:ln/>
        </p:spPr>
        <p:txBody>
          <a:bodyPr wrap="square" lIns="0" tIns="0" rIns="0" bIns="0" rtlCol="0" anchor="t"/>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You give your Nod</a:t>
            </a:r>
            <a:endParaRPr lang="en-US" sz="2000" dirty="0"/>
          </a:p>
        </p:txBody>
      </p:sp>
      <p:sp>
        <p:nvSpPr>
          <p:cNvPr id="16" name="Text 13"/>
          <p:cNvSpPr txBox="1"/>
          <p:nvPr/>
        </p:nvSpPr>
        <p:spPr>
          <a:xfrm>
            <a:off x="6510528" y="4480560"/>
            <a:ext cx="1828800" cy="114300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Fingerprint, face or screen lock. Reject or let it expire.</a:t>
            </a:r>
            <a:endParaRPr lang="en-US" sz="1400" dirty="0"/>
          </a:p>
        </p:txBody>
      </p:sp>
      <p:sp>
        <p:nvSpPr>
          <p:cNvPr id="17" name="Card"/>
          <p:cNvSpPr/>
          <p:nvPr/>
        </p:nvSpPr>
        <p:spPr>
          <a:xfrm>
            <a:off x="8897112" y="2743200"/>
            <a:ext cx="2377440" cy="3017520"/>
          </a:xfrm>
          <a:prstGeom prst="roundRect">
            <a:avLst>
              <a:gd name="adj" fmla="val 3077"/>
            </a:avLst>
          </a:prstGeom>
          <a:solidFill>
            <a:schemeClr val="bg2"/>
          </a:solidFill>
          <a:ln w="12700">
            <a:solidFill>
              <a:schemeClr val="accent6"/>
            </a:solidFill>
            <a:prstDash val="solid"/>
          </a:ln>
        </p:spPr>
      </p:sp>
      <p:sp>
        <p:nvSpPr>
          <p:cNvPr id="18" name="Text 15"/>
          <p:cNvSpPr txBox="1"/>
          <p:nvPr/>
        </p:nvSpPr>
        <p:spPr>
          <a:xfrm>
            <a:off x="9171432" y="3017520"/>
            <a:ext cx="182880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04</a:t>
            </a:r>
            <a:endParaRPr lang="en-US" sz="1100" dirty="0"/>
          </a:p>
        </p:txBody>
      </p:sp>
      <p:sp>
        <p:nvSpPr>
          <p:cNvPr id="19" name="Text 16"/>
          <p:cNvSpPr txBox="1"/>
          <p:nvPr/>
        </p:nvSpPr>
        <p:spPr>
          <a:xfrm>
            <a:off x="9171432" y="3611880"/>
            <a:ext cx="1828800" cy="822960"/>
          </a:xfrm>
          <a:prstGeom prst="rect">
            <a:avLst/>
          </a:prstGeom>
          <a:noFill/>
          <a:ln/>
        </p:spPr>
        <p:txBody>
          <a:bodyPr wrap="square" lIns="0" tIns="0" rIns="0" bIns="0" rtlCol="0" anchor="t"/>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Your wallet signs</a:t>
            </a:r>
            <a:endParaRPr lang="en-US" sz="2000" dirty="0"/>
          </a:p>
        </p:txBody>
      </p:sp>
      <p:sp>
        <p:nvSpPr>
          <p:cNvPr id="20" name="Text 17"/>
          <p:cNvSpPr txBox="1"/>
          <p:nvPr/>
        </p:nvSpPr>
        <p:spPr>
          <a:xfrm>
            <a:off x="9171432" y="4480560"/>
            <a:ext cx="1828800" cy="114300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Over Mobile Wallet Adapter. Keys never enter Nod.</a:t>
            </a:r>
            <a:endParaRPr lang="en-US" sz="14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03 · WHAT YOU SEE</a:t>
            </a:r>
            <a:endParaRPr lang="en-US" sz="1100" dirty="0"/>
          </a:p>
        </p:txBody>
      </p:sp>
      <p:sp>
        <p:nvSpPr>
          <p:cNvPr id="4" name="Title"/>
          <p:cNvSpPr txBox="1"/>
          <p:nvPr/>
        </p:nvSpPr>
        <p:spPr>
          <a:xfrm>
            <a:off x="914400" y="960120"/>
            <a:ext cx="566928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Read what it really does.</a:t>
            </a:r>
            <a:endParaRPr lang="en-US" sz="3400" dirty="0"/>
          </a:p>
        </p:txBody>
      </p:sp>
      <p:sp>
        <p:nvSpPr>
          <p:cNvPr id="5" name="Text 2"/>
          <p:cNvSpPr txBox="1"/>
          <p:nvPr/>
        </p:nvSpPr>
        <p:spPr>
          <a:xfrm>
            <a:off x="914400" y="2377440"/>
            <a:ext cx="512064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Decoded from the transaction, not from the agent's description</a:t>
            </a:r>
            <a:endParaRPr lang="en-US" sz="1600" dirty="0"/>
          </a:p>
          <a:p>
            <a:pPr marL="342900" indent="-342900">
              <a:spcAft>
                <a:spcPts val="1000"/>
              </a:spcAft>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Simulated on your phone: your balance before and after</a:t>
            </a:r>
            <a:endParaRPr lang="en-US" sz="1600" dirty="0"/>
          </a:p>
          <a:p>
            <a:pPr marL="342900" indent="-342900">
              <a:spcAft>
                <a:spcPts val="1000"/>
              </a:spcAft>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The agent's stated intent is checked against what the transaction does</a:t>
            </a:r>
            <a:endParaRPr lang="en-US" sz="1600" dirty="0"/>
          </a:p>
          <a:p>
            <a:pPr marL="342900" indent="-342900">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A countdown, and a fresh check if the quote goes stale</a:t>
            </a:r>
            <a:endParaRPr lang="en-US" sz="1600" dirty="0"/>
          </a:p>
        </p:txBody>
      </p:sp>
      <p:sp>
        <p:nvSpPr>
          <p:cNvPr id="6" name="Approval card"/>
          <p:cNvSpPr/>
          <p:nvPr/>
        </p:nvSpPr>
        <p:spPr>
          <a:xfrm>
            <a:off x="6675120" y="914400"/>
            <a:ext cx="4572000" cy="5166360"/>
          </a:xfrm>
          <a:prstGeom prst="roundRect">
            <a:avLst>
              <a:gd name="adj" fmla="val 1600"/>
            </a:avLst>
          </a:prstGeom>
          <a:solidFill>
            <a:schemeClr val="bg2"/>
          </a:solidFill>
          <a:ln w="12700">
            <a:solidFill>
              <a:schemeClr val="accent6"/>
            </a:solidFill>
            <a:prstDash val="solid"/>
          </a:ln>
        </p:spPr>
      </p:sp>
      <p:sp>
        <p:nvSpPr>
          <p:cNvPr id="7" name="Text 4"/>
          <p:cNvSpPr txBox="1"/>
          <p:nvPr/>
        </p:nvSpPr>
        <p:spPr>
          <a:xfrm>
            <a:off x="6995160" y="1188720"/>
            <a:ext cx="2286000" cy="365760"/>
          </a:xfrm>
          <a:prstGeom prst="rect">
            <a:avLst/>
          </a:prstGeom>
          <a:noFill/>
          <a:ln/>
        </p:spPr>
        <p:txBody>
          <a:bodyPr wrap="square" lIns="0" tIns="0" rIns="0" bIns="0" rtlCol="0" anchor="ctr"/>
          <a:lstStyle/>
          <a:p>
            <a:pPr indent="0" marL="0">
              <a:buNone/>
            </a:pPr>
            <a:r>
              <a:rPr lang="en-US" sz="1600" dirty="0">
                <a:solidFill>
                  <a:schemeClr val="tx1"/>
                </a:solidFill>
                <a:latin typeface="Plus Jakarta Sans" pitchFamily="34" charset="0"/>
                <a:ea typeface="Plus Jakarta Sans" pitchFamily="34" charset="-122"/>
                <a:cs typeface="Plus Jakarta Sans" pitchFamily="34" charset="-120"/>
              </a:rPr>
              <a:t>demo-agent</a:t>
            </a:r>
            <a:endParaRPr lang="en-US" sz="1600" dirty="0"/>
          </a:p>
        </p:txBody>
      </p:sp>
      <p:sp>
        <p:nvSpPr>
          <p:cNvPr id="8" name="Text 5"/>
          <p:cNvSpPr txBox="1"/>
          <p:nvPr/>
        </p:nvSpPr>
        <p:spPr>
          <a:xfrm>
            <a:off x="9281160" y="1188720"/>
            <a:ext cx="1645920" cy="365760"/>
          </a:xfrm>
          <a:prstGeom prst="rect">
            <a:avLst/>
          </a:prstGeom>
          <a:noFill/>
          <a:ln/>
        </p:spPr>
        <p:txBody>
          <a:bodyPr wrap="square" lIns="0" tIns="0" rIns="0" bIns="0" rtlCol="0" anchor="ctr"/>
          <a:lstStyle/>
          <a:p>
            <a:pPr algn="r" indent="0" marL="0">
              <a:buNone/>
            </a:pPr>
            <a:r>
              <a:rPr lang="en-US" sz="1000" dirty="0">
                <a:solidFill>
                  <a:schemeClr val="accent3"/>
                </a:solidFill>
                <a:latin typeface="Geist Mono" pitchFamily="34" charset="0"/>
                <a:ea typeface="Geist Mono" pitchFamily="34" charset="-122"/>
                <a:cs typeface="Geist Mono" pitchFamily="34" charset="-120"/>
              </a:rPr>
              <a:t>EXPIRES IN 0:42</a:t>
            </a:r>
            <a:endParaRPr lang="en-US" sz="1000" dirty="0"/>
          </a:p>
        </p:txBody>
      </p:sp>
      <p:sp>
        <p:nvSpPr>
          <p:cNvPr id="9" name="Text 6"/>
          <p:cNvSpPr txBox="1"/>
          <p:nvPr/>
        </p:nvSpPr>
        <p:spPr>
          <a:xfrm>
            <a:off x="6995160" y="1783080"/>
            <a:ext cx="2743200" cy="320040"/>
          </a:xfrm>
          <a:prstGeom prst="rect">
            <a:avLst/>
          </a:prstGeom>
          <a:noFill/>
          <a:ln/>
        </p:spPr>
        <p:txBody>
          <a:bodyPr wrap="square" lIns="0" tIns="0" rIns="0" bIns="0" rtlCol="0" anchor="ctr"/>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wants to send</a:t>
            </a:r>
            <a:endParaRPr lang="en-US" sz="1400" dirty="0"/>
          </a:p>
        </p:txBody>
      </p:sp>
      <p:sp>
        <p:nvSpPr>
          <p:cNvPr id="10" name="Text 7"/>
          <p:cNvSpPr txBox="1"/>
          <p:nvPr/>
        </p:nvSpPr>
        <p:spPr>
          <a:xfrm>
            <a:off x="6995160" y="2103120"/>
            <a:ext cx="3657600" cy="731520"/>
          </a:xfrm>
          <a:prstGeom prst="rect">
            <a:avLst/>
          </a:prstGeom>
          <a:noFill/>
          <a:ln/>
        </p:spPr>
        <p:txBody>
          <a:bodyPr wrap="square" lIns="0" tIns="0" rIns="0" bIns="0" rtlCol="0" anchor="ctr"/>
          <a:lstStyle/>
          <a:p>
            <a:pPr indent="0" marL="0">
              <a:buNone/>
            </a:pPr>
            <a:r>
              <a:rPr lang="en-US" sz="3800" dirty="0">
                <a:solidFill>
                  <a:schemeClr val="tx1"/>
                </a:solidFill>
                <a:latin typeface="Geist Mono" pitchFamily="34" charset="0"/>
                <a:ea typeface="Geist Mono" pitchFamily="34" charset="-122"/>
                <a:cs typeface="Geist Mono" pitchFamily="34" charset="-120"/>
              </a:rPr>
              <a:t>0.05 </a:t>
            </a:r>
            <a:pPr indent="0" marL="0">
              <a:buNone/>
            </a:pPr>
            <a:r>
              <a:rPr lang="en-US" sz="1800" dirty="0">
                <a:solidFill>
                  <a:schemeClr val="tx2"/>
                </a:solidFill>
                <a:latin typeface="Geist Mono" pitchFamily="34" charset="0"/>
                <a:ea typeface="Geist Mono" pitchFamily="34" charset="-122"/>
                <a:cs typeface="Geist Mono" pitchFamily="34" charset="-120"/>
              </a:rPr>
              <a:t>SOL</a:t>
            </a:r>
            <a:endParaRPr lang="en-US" sz="3800" dirty="0"/>
          </a:p>
        </p:txBody>
      </p:sp>
      <p:sp>
        <p:nvSpPr>
          <p:cNvPr id="11" name="Shape 8"/>
          <p:cNvSpPr/>
          <p:nvPr/>
        </p:nvSpPr>
        <p:spPr>
          <a:xfrm>
            <a:off x="6995160" y="3063240"/>
            <a:ext cx="3931920" cy="0"/>
          </a:xfrm>
          <a:prstGeom prst="line">
            <a:avLst/>
          </a:prstGeom>
          <a:noFill/>
          <a:ln w="12700">
            <a:solidFill>
              <a:schemeClr val="accent6"/>
            </a:solidFill>
            <a:prstDash val="solid"/>
          </a:ln>
        </p:spPr>
      </p:sp>
      <p:sp>
        <p:nvSpPr>
          <p:cNvPr id="12" name="Text 9"/>
          <p:cNvSpPr txBox="1"/>
          <p:nvPr/>
        </p:nvSpPr>
        <p:spPr>
          <a:xfrm>
            <a:off x="6995160" y="3136392"/>
            <a:ext cx="1828800" cy="347472"/>
          </a:xfrm>
          <a:prstGeom prst="rect">
            <a:avLst/>
          </a:prstGeom>
          <a:noFill/>
          <a:ln/>
        </p:spPr>
        <p:txBody>
          <a:bodyPr wrap="square" lIns="0" tIns="0" rIns="0" bIns="0" rtlCol="0" anchor="ctr"/>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To</a:t>
            </a:r>
            <a:endParaRPr lang="en-US" sz="1400" dirty="0"/>
          </a:p>
        </p:txBody>
      </p:sp>
      <p:sp>
        <p:nvSpPr>
          <p:cNvPr id="13" name="Text 10"/>
          <p:cNvSpPr txBox="1"/>
          <p:nvPr/>
        </p:nvSpPr>
        <p:spPr>
          <a:xfrm>
            <a:off x="8503920" y="3136392"/>
            <a:ext cx="2423160" cy="347472"/>
          </a:xfrm>
          <a:prstGeom prst="rect">
            <a:avLst/>
          </a:prstGeom>
          <a:noFill/>
          <a:ln/>
        </p:spPr>
        <p:txBody>
          <a:bodyPr wrap="square" lIns="0" tIns="0" rIns="0" bIns="0" rtlCol="0" anchor="ctr"/>
          <a:lstStyle/>
          <a:p>
            <a:pPr algn="r" indent="0" marL="0">
              <a:buNone/>
            </a:pPr>
            <a:r>
              <a:rPr lang="en-US" sz="1300" dirty="0">
                <a:solidFill>
                  <a:schemeClr val="tx1"/>
                </a:solidFill>
                <a:latin typeface="Geist Mono" pitchFamily="34" charset="0"/>
                <a:ea typeface="Geist Mono" pitchFamily="34" charset="-122"/>
                <a:cs typeface="Geist Mono" pitchFamily="34" charset="-120"/>
              </a:rPr>
              <a:t>7xKX…9fQ2</a:t>
            </a:r>
            <a:endParaRPr lang="en-US" sz="1300" dirty="0"/>
          </a:p>
        </p:txBody>
      </p:sp>
      <p:sp>
        <p:nvSpPr>
          <p:cNvPr id="14" name="Shape 11"/>
          <p:cNvSpPr/>
          <p:nvPr/>
        </p:nvSpPr>
        <p:spPr>
          <a:xfrm>
            <a:off x="6995160" y="3566160"/>
            <a:ext cx="3931920" cy="0"/>
          </a:xfrm>
          <a:prstGeom prst="line">
            <a:avLst/>
          </a:prstGeom>
          <a:noFill/>
          <a:ln w="12700">
            <a:solidFill>
              <a:schemeClr val="accent6"/>
            </a:solidFill>
            <a:prstDash val="solid"/>
          </a:ln>
        </p:spPr>
      </p:sp>
      <p:sp>
        <p:nvSpPr>
          <p:cNvPr id="15" name="Text 12"/>
          <p:cNvSpPr txBox="1"/>
          <p:nvPr/>
        </p:nvSpPr>
        <p:spPr>
          <a:xfrm>
            <a:off x="6995160" y="3639312"/>
            <a:ext cx="1828800" cy="347472"/>
          </a:xfrm>
          <a:prstGeom prst="rect">
            <a:avLst/>
          </a:prstGeom>
          <a:noFill/>
          <a:ln/>
        </p:spPr>
        <p:txBody>
          <a:bodyPr wrap="square" lIns="0" tIns="0" rIns="0" bIns="0" rtlCol="0" anchor="ctr"/>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Program</a:t>
            </a:r>
            <a:endParaRPr lang="en-US" sz="1400" dirty="0"/>
          </a:p>
        </p:txBody>
      </p:sp>
      <p:sp>
        <p:nvSpPr>
          <p:cNvPr id="16" name="Text 13"/>
          <p:cNvSpPr txBox="1"/>
          <p:nvPr/>
        </p:nvSpPr>
        <p:spPr>
          <a:xfrm>
            <a:off x="8503920" y="3639312"/>
            <a:ext cx="2423160" cy="347472"/>
          </a:xfrm>
          <a:prstGeom prst="rect">
            <a:avLst/>
          </a:prstGeom>
          <a:noFill/>
          <a:ln/>
        </p:spPr>
        <p:txBody>
          <a:bodyPr wrap="square" lIns="0" tIns="0" rIns="0" bIns="0" rtlCol="0" anchor="ctr"/>
          <a:lstStyle/>
          <a:p>
            <a:pPr algn="r" indent="0" marL="0">
              <a:buNone/>
            </a:pPr>
            <a:r>
              <a:rPr lang="en-US" sz="1300" dirty="0">
                <a:solidFill>
                  <a:schemeClr val="tx1"/>
                </a:solidFill>
                <a:latin typeface="Geist Mono" pitchFamily="34" charset="0"/>
                <a:ea typeface="Geist Mono" pitchFamily="34" charset="-122"/>
                <a:cs typeface="Geist Mono" pitchFamily="34" charset="-120"/>
              </a:rPr>
              <a:t>System Program</a:t>
            </a:r>
            <a:endParaRPr lang="en-US" sz="1300" dirty="0"/>
          </a:p>
        </p:txBody>
      </p:sp>
      <p:sp>
        <p:nvSpPr>
          <p:cNvPr id="17" name="Shape 14"/>
          <p:cNvSpPr/>
          <p:nvPr/>
        </p:nvSpPr>
        <p:spPr>
          <a:xfrm>
            <a:off x="6995160" y="4069080"/>
            <a:ext cx="3931920" cy="0"/>
          </a:xfrm>
          <a:prstGeom prst="line">
            <a:avLst/>
          </a:prstGeom>
          <a:noFill/>
          <a:ln w="12700">
            <a:solidFill>
              <a:schemeClr val="accent6"/>
            </a:solidFill>
            <a:prstDash val="solid"/>
          </a:ln>
        </p:spPr>
      </p:sp>
      <p:sp>
        <p:nvSpPr>
          <p:cNvPr id="18" name="Text 15"/>
          <p:cNvSpPr txBox="1"/>
          <p:nvPr/>
        </p:nvSpPr>
        <p:spPr>
          <a:xfrm>
            <a:off x="6995160" y="4142232"/>
            <a:ext cx="1828800" cy="347472"/>
          </a:xfrm>
          <a:prstGeom prst="rect">
            <a:avLst/>
          </a:prstGeom>
          <a:noFill/>
          <a:ln/>
        </p:spPr>
        <p:txBody>
          <a:bodyPr wrap="square" lIns="0" tIns="0" rIns="0" bIns="0" rtlCol="0" anchor="ctr"/>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Your balance</a:t>
            </a:r>
            <a:endParaRPr lang="en-US" sz="1400" dirty="0"/>
          </a:p>
        </p:txBody>
      </p:sp>
      <p:sp>
        <p:nvSpPr>
          <p:cNvPr id="19" name="Text 16"/>
          <p:cNvSpPr txBox="1"/>
          <p:nvPr/>
        </p:nvSpPr>
        <p:spPr>
          <a:xfrm>
            <a:off x="8503920" y="4142232"/>
            <a:ext cx="2423160" cy="347472"/>
          </a:xfrm>
          <a:prstGeom prst="rect">
            <a:avLst/>
          </a:prstGeom>
          <a:noFill/>
          <a:ln/>
        </p:spPr>
        <p:txBody>
          <a:bodyPr wrap="square" lIns="0" tIns="0" rIns="0" bIns="0" rtlCol="0" anchor="ctr"/>
          <a:lstStyle/>
          <a:p>
            <a:pPr algn="r" indent="0" marL="0">
              <a:buNone/>
            </a:pPr>
            <a:r>
              <a:rPr lang="en-US" sz="1300" dirty="0">
                <a:solidFill>
                  <a:schemeClr val="tx1"/>
                </a:solidFill>
                <a:latin typeface="Geist Mono" pitchFamily="34" charset="0"/>
                <a:ea typeface="Geist Mono" pitchFamily="34" charset="-122"/>
                <a:cs typeface="Geist Mono" pitchFamily="34" charset="-120"/>
              </a:rPr>
              <a:t>1.2400 → 1.1900</a:t>
            </a:r>
            <a:endParaRPr lang="en-US" sz="1300" dirty="0"/>
          </a:p>
        </p:txBody>
      </p:sp>
      <p:sp>
        <p:nvSpPr>
          <p:cNvPr id="20" name="Shape 17"/>
          <p:cNvSpPr/>
          <p:nvPr/>
        </p:nvSpPr>
        <p:spPr>
          <a:xfrm>
            <a:off x="6995160" y="4572000"/>
            <a:ext cx="3931920" cy="0"/>
          </a:xfrm>
          <a:prstGeom prst="line">
            <a:avLst/>
          </a:prstGeom>
          <a:noFill/>
          <a:ln w="12700">
            <a:solidFill>
              <a:schemeClr val="accent6"/>
            </a:solidFill>
            <a:prstDash val="solid"/>
          </a:ln>
        </p:spPr>
      </p:sp>
      <p:sp>
        <p:nvSpPr>
          <p:cNvPr id="21" name="Shape 18"/>
          <p:cNvSpPr/>
          <p:nvPr/>
        </p:nvSpPr>
        <p:spPr>
          <a:xfrm>
            <a:off x="6995160" y="4773168"/>
            <a:ext cx="118872" cy="118872"/>
          </a:xfrm>
          <a:prstGeom prst="ellipse">
            <a:avLst/>
          </a:prstGeom>
          <a:solidFill>
            <a:schemeClr val="accent2"/>
          </a:solidFill>
          <a:ln w="12700">
            <a:solidFill>
              <a:schemeClr val="accent2"/>
            </a:solidFill>
            <a:prstDash val="solid"/>
          </a:ln>
        </p:spPr>
      </p:sp>
      <p:sp>
        <p:nvSpPr>
          <p:cNvPr id="22" name="Text 19"/>
          <p:cNvSpPr txBox="1"/>
          <p:nvPr/>
        </p:nvSpPr>
        <p:spPr>
          <a:xfrm>
            <a:off x="7242048" y="4663440"/>
            <a:ext cx="3657600" cy="347472"/>
          </a:xfrm>
          <a:prstGeom prst="rect">
            <a:avLst/>
          </a:prstGeom>
          <a:noFill/>
          <a:ln/>
        </p:spPr>
        <p:txBody>
          <a:bodyPr wrap="square" lIns="0" tIns="0" rIns="0" bIns="0" rtlCol="0" anchor="ctr"/>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Matches what the agent said.</a:t>
            </a:r>
            <a:endParaRPr lang="en-US" sz="1400" dirty="0"/>
          </a:p>
        </p:txBody>
      </p:sp>
      <p:sp>
        <p:nvSpPr>
          <p:cNvPr id="23" name="Shape 20"/>
          <p:cNvSpPr/>
          <p:nvPr/>
        </p:nvSpPr>
        <p:spPr>
          <a:xfrm>
            <a:off x="6995160" y="5257800"/>
            <a:ext cx="1325880" cy="548640"/>
          </a:xfrm>
          <a:prstGeom prst="roundRect">
            <a:avLst>
              <a:gd name="adj" fmla="val 13333"/>
            </a:avLst>
          </a:prstGeom>
          <a:solidFill>
            <a:schemeClr val="bg1"/>
          </a:solidFill>
          <a:ln w="12700">
            <a:solidFill>
              <a:schemeClr val="accent6"/>
            </a:solidFill>
            <a:prstDash val="solid"/>
          </a:ln>
        </p:spPr>
      </p:sp>
      <p:sp>
        <p:nvSpPr>
          <p:cNvPr id="24" name="Text 21"/>
          <p:cNvSpPr txBox="1"/>
          <p:nvPr/>
        </p:nvSpPr>
        <p:spPr>
          <a:xfrm>
            <a:off x="6995160" y="5257800"/>
            <a:ext cx="1325880" cy="548640"/>
          </a:xfrm>
          <a:prstGeom prst="rect">
            <a:avLst/>
          </a:prstGeom>
          <a:noFill/>
          <a:ln/>
        </p:spPr>
        <p:txBody>
          <a:bodyPr wrap="square" lIns="0" tIns="0" rIns="0" bIns="0" rtlCol="0" anchor="ctr"/>
          <a:lstStyle/>
          <a:p>
            <a:pPr algn="ctr" indent="0" marL="0">
              <a:buNone/>
            </a:pPr>
            <a:r>
              <a:rPr lang="en-US" sz="1100" spc="100" kern="0" dirty="0">
                <a:solidFill>
                  <a:schemeClr val="tx1"/>
                </a:solidFill>
                <a:latin typeface="Geist Mono" pitchFamily="34" charset="0"/>
                <a:ea typeface="Geist Mono" pitchFamily="34" charset="-122"/>
                <a:cs typeface="Geist Mono" pitchFamily="34" charset="-120"/>
              </a:rPr>
              <a:t>REJECT</a:t>
            </a:r>
            <a:endParaRPr lang="en-US" sz="1100" dirty="0"/>
          </a:p>
        </p:txBody>
      </p:sp>
      <p:sp>
        <p:nvSpPr>
          <p:cNvPr id="25" name="Shape 22"/>
          <p:cNvSpPr/>
          <p:nvPr/>
        </p:nvSpPr>
        <p:spPr>
          <a:xfrm>
            <a:off x="8458200" y="5257800"/>
            <a:ext cx="2468880" cy="548640"/>
          </a:xfrm>
          <a:prstGeom prst="roundRect">
            <a:avLst>
              <a:gd name="adj" fmla="val 13333"/>
            </a:avLst>
          </a:prstGeom>
          <a:solidFill>
            <a:schemeClr val="accent1"/>
          </a:solidFill>
          <a:ln w="12700">
            <a:solidFill>
              <a:schemeClr val="accent1"/>
            </a:solidFill>
            <a:prstDash val="solid"/>
          </a:ln>
        </p:spPr>
      </p:sp>
      <p:sp>
        <p:nvSpPr>
          <p:cNvPr id="26" name="Text 23"/>
          <p:cNvSpPr txBox="1"/>
          <p:nvPr/>
        </p:nvSpPr>
        <p:spPr>
          <a:xfrm>
            <a:off x="8458200" y="5257800"/>
            <a:ext cx="2468880" cy="548640"/>
          </a:xfrm>
          <a:prstGeom prst="rect">
            <a:avLst/>
          </a:prstGeom>
          <a:noFill/>
          <a:ln/>
        </p:spPr>
        <p:txBody>
          <a:bodyPr wrap="square" lIns="0" tIns="0" rIns="0" bIns="0" rtlCol="0" anchor="ctr"/>
          <a:lstStyle/>
          <a:p>
            <a:pPr algn="ctr" indent="0" marL="0">
              <a:buNone/>
            </a:pPr>
            <a:r>
              <a:rPr lang="en-US" sz="1100" spc="100" kern="0" dirty="0">
                <a:solidFill>
                  <a:schemeClr val="bg1"/>
                </a:solidFill>
                <a:latin typeface="Geist Mono" pitchFamily="34" charset="0"/>
                <a:ea typeface="Geist Mono" pitchFamily="34" charset="-122"/>
                <a:cs typeface="Geist Mono" pitchFamily="34" charset="-120"/>
              </a:rPr>
              <a:t>HOLD TO APPROVE</a:t>
            </a:r>
            <a:endParaRPr lang="en-US" sz="11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04 · DECODED, NOT DESCRIBED</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The agent can say anything. The transaction cannot.</a:t>
            </a:r>
            <a:endParaRPr lang="en-US" sz="3400" dirty="0"/>
          </a:p>
        </p:txBody>
      </p:sp>
      <p:sp>
        <p:nvSpPr>
          <p:cNvPr id="5" name="Card"/>
          <p:cNvSpPr/>
          <p:nvPr/>
        </p:nvSpPr>
        <p:spPr>
          <a:xfrm>
            <a:off x="914400" y="2514600"/>
            <a:ext cx="5029200" cy="2103120"/>
          </a:xfrm>
          <a:prstGeom prst="roundRect">
            <a:avLst>
              <a:gd name="adj" fmla="val 3478"/>
            </a:avLst>
          </a:prstGeom>
          <a:solidFill>
            <a:schemeClr val="bg2"/>
          </a:solidFill>
          <a:ln w="12700">
            <a:solidFill>
              <a:schemeClr val="accent6"/>
            </a:solidFill>
            <a:prstDash val="solid"/>
          </a:ln>
        </p:spPr>
      </p:sp>
      <p:sp>
        <p:nvSpPr>
          <p:cNvPr id="6" name="Text 3"/>
          <p:cNvSpPr txBox="1"/>
          <p:nvPr/>
        </p:nvSpPr>
        <p:spPr>
          <a:xfrm>
            <a:off x="1234440" y="2788920"/>
            <a:ext cx="36576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THE AGENT SAYS</a:t>
            </a:r>
            <a:endParaRPr lang="en-US" sz="1100" dirty="0"/>
          </a:p>
        </p:txBody>
      </p:sp>
      <p:sp>
        <p:nvSpPr>
          <p:cNvPr id="7" name="Text 4"/>
          <p:cNvSpPr txBox="1"/>
          <p:nvPr/>
        </p:nvSpPr>
        <p:spPr>
          <a:xfrm>
            <a:off x="1234440" y="3246120"/>
            <a:ext cx="4389120" cy="457200"/>
          </a:xfrm>
          <a:prstGeom prst="rect">
            <a:avLst/>
          </a:prstGeom>
          <a:noFill/>
          <a:ln/>
        </p:spPr>
        <p:txBody>
          <a:bodyPr wrap="square" lIns="0" tIns="0" rIns="0" bIns="0" rtlCol="0" anchor="ctr"/>
          <a:lstStyle/>
          <a:p>
            <a:pPr indent="0" marL="0">
              <a:buNone/>
            </a:pPr>
            <a:r>
              <a:rPr lang="en-US" sz="2200" dirty="0">
                <a:solidFill>
                  <a:schemeClr val="tx1"/>
                </a:solidFill>
                <a:latin typeface="Plus Jakarta Sans" pitchFamily="34" charset="0"/>
                <a:ea typeface="Plus Jakarta Sans" pitchFamily="34" charset="-122"/>
                <a:cs typeface="Plus Jakarta Sans" pitchFamily="34" charset="-120"/>
              </a:rPr>
              <a:t>“Weather API credits”</a:t>
            </a:r>
            <a:endParaRPr lang="en-US" sz="2200" dirty="0"/>
          </a:p>
        </p:txBody>
      </p:sp>
      <p:sp>
        <p:nvSpPr>
          <p:cNvPr id="8" name="Text 5"/>
          <p:cNvSpPr txBox="1"/>
          <p:nvPr/>
        </p:nvSpPr>
        <p:spPr>
          <a:xfrm>
            <a:off x="1234440" y="3794760"/>
            <a:ext cx="4389120" cy="365760"/>
          </a:xfrm>
          <a:prstGeom prst="rect">
            <a:avLst/>
          </a:prstGeom>
          <a:noFill/>
          <a:ln/>
        </p:spPr>
        <p:txBody>
          <a:bodyPr wrap="square" lIns="0" tIns="0" rIns="0" bIns="0" rtlCol="0" anchor="ctr"/>
          <a:lstStyle/>
          <a:p>
            <a:pPr indent="0" marL="0">
              <a:buNone/>
            </a:pPr>
            <a:r>
              <a:rPr lang="en-US" sz="1500" dirty="0">
                <a:solidFill>
                  <a:schemeClr val="tx2"/>
                </a:solidFill>
                <a:latin typeface="Plus Jakarta Sans" pitchFamily="34" charset="0"/>
                <a:ea typeface="Plus Jakarta Sans" pitchFamily="34" charset="-122"/>
                <a:cs typeface="Plus Jakarta Sans" pitchFamily="34" charset="-120"/>
              </a:rPr>
              <a:t>Pay 0.05 SOL</a:t>
            </a:r>
            <a:endParaRPr lang="en-US" sz="1500" dirty="0"/>
          </a:p>
        </p:txBody>
      </p:sp>
      <p:sp>
        <p:nvSpPr>
          <p:cNvPr id="9" name="Card"/>
          <p:cNvSpPr/>
          <p:nvPr/>
        </p:nvSpPr>
        <p:spPr>
          <a:xfrm>
            <a:off x="6245352" y="2514600"/>
            <a:ext cx="5029200" cy="2103120"/>
          </a:xfrm>
          <a:prstGeom prst="roundRect">
            <a:avLst>
              <a:gd name="adj" fmla="val 3478"/>
            </a:avLst>
          </a:prstGeom>
          <a:solidFill>
            <a:schemeClr val="bg2"/>
          </a:solidFill>
          <a:ln w="12700">
            <a:solidFill>
              <a:schemeClr val="accent4"/>
            </a:solidFill>
            <a:prstDash val="solid"/>
          </a:ln>
        </p:spPr>
      </p:sp>
      <p:sp>
        <p:nvSpPr>
          <p:cNvPr id="10" name="Text 7"/>
          <p:cNvSpPr txBox="1"/>
          <p:nvPr/>
        </p:nvSpPr>
        <p:spPr>
          <a:xfrm>
            <a:off x="6565392" y="2788920"/>
            <a:ext cx="3657600" cy="274320"/>
          </a:xfrm>
          <a:prstGeom prst="rect">
            <a:avLst/>
          </a:prstGeom>
          <a:noFill/>
          <a:ln/>
        </p:spPr>
        <p:txBody>
          <a:bodyPr wrap="square" lIns="0" tIns="0" rIns="0" bIns="0" rtlCol="0" anchor="ctr"/>
          <a:lstStyle/>
          <a:p>
            <a:pPr indent="0" marL="0">
              <a:buNone/>
            </a:pPr>
            <a:r>
              <a:rPr lang="en-US" sz="1100" spc="200" kern="0" dirty="0">
                <a:solidFill>
                  <a:schemeClr val="accent4"/>
                </a:solidFill>
                <a:latin typeface="Geist Mono" pitchFamily="34" charset="0"/>
                <a:ea typeface="Geist Mono" pitchFamily="34" charset="-122"/>
                <a:cs typeface="Geist Mono" pitchFamily="34" charset="-120"/>
              </a:rPr>
              <a:t>THE TRANSACTION DOES</a:t>
            </a:r>
            <a:endParaRPr lang="en-US" sz="1100" dirty="0"/>
          </a:p>
        </p:txBody>
      </p:sp>
      <p:sp>
        <p:nvSpPr>
          <p:cNvPr id="11" name="Text 8"/>
          <p:cNvSpPr txBox="1"/>
          <p:nvPr/>
        </p:nvSpPr>
        <p:spPr>
          <a:xfrm>
            <a:off x="6565392" y="3246120"/>
            <a:ext cx="4389120" cy="457200"/>
          </a:xfrm>
          <a:prstGeom prst="rect">
            <a:avLst/>
          </a:prstGeom>
          <a:noFill/>
          <a:ln/>
        </p:spPr>
        <p:txBody>
          <a:bodyPr wrap="square" lIns="0" tIns="0" rIns="0" bIns="0" rtlCol="0" anchor="ctr"/>
          <a:lstStyle/>
          <a:p>
            <a:pPr indent="0" marL="0">
              <a:buNone/>
            </a:pPr>
            <a:r>
              <a:rPr lang="en-US" sz="2200" dirty="0">
                <a:solidFill>
                  <a:schemeClr val="tx1"/>
                </a:solidFill>
                <a:latin typeface="Plus Jakarta Sans" pitchFamily="34" charset="0"/>
                <a:ea typeface="Plus Jakarta Sans" pitchFamily="34" charset="-122"/>
                <a:cs typeface="Plus Jakarta Sans" pitchFamily="34" charset="-120"/>
              </a:rPr>
              <a:t>Sends 4.80 SOL</a:t>
            </a:r>
            <a:endParaRPr lang="en-US" sz="2200" dirty="0"/>
          </a:p>
        </p:txBody>
      </p:sp>
      <p:sp>
        <p:nvSpPr>
          <p:cNvPr id="12" name="Text 9"/>
          <p:cNvSpPr txBox="1"/>
          <p:nvPr/>
        </p:nvSpPr>
        <p:spPr>
          <a:xfrm>
            <a:off x="6565392" y="3794760"/>
            <a:ext cx="4389120" cy="640080"/>
          </a:xfrm>
          <a:prstGeom prst="rect">
            <a:avLst/>
          </a:prstGeom>
          <a:noFill/>
          <a:ln/>
        </p:spPr>
        <p:txBody>
          <a:bodyPr wrap="square" lIns="0" tIns="0" rIns="0" bIns="0" rtlCol="0" anchor="t"/>
          <a:lstStyle/>
          <a:p>
            <a:pPr indent="0" marL="0">
              <a:buNone/>
            </a:pPr>
            <a:r>
              <a:rPr lang="en-US" sz="1500" dirty="0">
                <a:solidFill>
                  <a:schemeClr val="tx2"/>
                </a:solidFill>
                <a:latin typeface="Plus Jakarta Sans" pitchFamily="34" charset="0"/>
                <a:ea typeface="Plus Jakarta Sans" pitchFamily="34" charset="-122"/>
                <a:cs typeface="Plus Jakarta Sans" pitchFamily="34" charset="-120"/>
              </a:rPr>
              <a:t>To 9bQr…T3mA, a recipient you never allowed</a:t>
            </a:r>
            <a:endParaRPr lang="en-US" sz="1500" dirty="0"/>
          </a:p>
        </p:txBody>
      </p:sp>
      <p:sp>
        <p:nvSpPr>
          <p:cNvPr id="13" name="Card"/>
          <p:cNvSpPr/>
          <p:nvPr/>
        </p:nvSpPr>
        <p:spPr>
          <a:xfrm>
            <a:off x="914400" y="4846320"/>
            <a:ext cx="10360152" cy="868680"/>
          </a:xfrm>
          <a:prstGeom prst="roundRect">
            <a:avLst>
              <a:gd name="adj" fmla="val 8421"/>
            </a:avLst>
          </a:prstGeom>
          <a:solidFill>
            <a:schemeClr val="bg2"/>
          </a:solidFill>
          <a:ln w="12700">
            <a:solidFill>
              <a:schemeClr val="accent6"/>
            </a:solidFill>
            <a:prstDash val="solid"/>
          </a:ln>
        </p:spPr>
      </p:sp>
      <p:sp>
        <p:nvSpPr>
          <p:cNvPr id="14" name="Shape 11"/>
          <p:cNvSpPr/>
          <p:nvPr/>
        </p:nvSpPr>
        <p:spPr>
          <a:xfrm>
            <a:off x="1234440" y="5212080"/>
            <a:ext cx="128016" cy="128016"/>
          </a:xfrm>
          <a:prstGeom prst="ellipse">
            <a:avLst/>
          </a:prstGeom>
          <a:solidFill>
            <a:schemeClr val="accent4"/>
          </a:solidFill>
          <a:ln w="12700">
            <a:solidFill>
              <a:schemeClr val="accent4"/>
            </a:solidFill>
            <a:prstDash val="solid"/>
          </a:ln>
        </p:spPr>
      </p:sp>
      <p:sp>
        <p:nvSpPr>
          <p:cNvPr id="15" name="Text 12"/>
          <p:cNvSpPr txBox="1"/>
          <p:nvPr/>
        </p:nvSpPr>
        <p:spPr>
          <a:xfrm>
            <a:off x="1508760" y="4846320"/>
            <a:ext cx="9445752" cy="868680"/>
          </a:xfrm>
          <a:prstGeom prst="rect">
            <a:avLst/>
          </a:prstGeom>
          <a:noFill/>
          <a:ln/>
        </p:spPr>
        <p:txBody>
          <a:bodyPr wrap="square" lIns="0" tIns="0" rIns="0" bIns="0" rtlCol="0" anchor="ctr"/>
          <a:lstStyle/>
          <a:p>
            <a:pPr indent="0" marL="0">
              <a:buNone/>
            </a:pPr>
            <a:r>
              <a:rPr lang="en-US" sz="1800" dirty="0">
                <a:solidFill>
                  <a:schemeClr val="tx1"/>
                </a:solidFill>
                <a:latin typeface="Plus Jakarta Sans" pitchFamily="34" charset="0"/>
                <a:ea typeface="Plus Jakarta Sans" pitchFamily="34" charset="-122"/>
                <a:cs typeface="Plus Jakarta Sans" pitchFamily="34" charset="-120"/>
              </a:rPr>
              <a:t>Does not match. Over the hard cap, so it is blocked automatically.</a:t>
            </a:r>
            <a:endParaRPr lang="en-US" sz="1800" dirty="0"/>
          </a:p>
        </p:txBody>
      </p:sp>
      <p:sp>
        <p:nvSpPr>
          <p:cNvPr id="16" name="Text 13"/>
          <p:cNvSpPr txBox="1"/>
          <p:nvPr/>
        </p:nvSpPr>
        <p:spPr>
          <a:xfrm>
            <a:off x="914400" y="5852160"/>
            <a:ext cx="3657600" cy="274320"/>
          </a:xfrm>
          <a:prstGeom prst="rect">
            <a:avLst/>
          </a:prstGeom>
          <a:noFill/>
          <a:ln/>
        </p:spPr>
        <p:txBody>
          <a:bodyPr wrap="square" lIns="0" tIns="0" rIns="0" bIns="0" rtlCol="0" anchor="ctr"/>
          <a:lstStyle/>
          <a:p>
            <a:pPr indent="0" marL="0">
              <a:buNone/>
            </a:pPr>
            <a:r>
              <a:rPr lang="en-US" sz="1000" dirty="0">
                <a:solidFill>
                  <a:schemeClr val="tx2"/>
                </a:solidFill>
                <a:latin typeface="Geist Mono" pitchFamily="34" charset="0"/>
                <a:ea typeface="Geist Mono" pitchFamily="34" charset="-122"/>
                <a:cs typeface="Geist Mono" pitchFamily="34" charset="-120"/>
              </a:rPr>
              <a:t>Illustrative example.</a:t>
            </a:r>
            <a:endParaRPr lang="en-US" sz="10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05 · YOUR LIMITS</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You decide how much trust an agent gets.</a:t>
            </a:r>
            <a:endParaRPr lang="en-US" sz="3400" dirty="0"/>
          </a:p>
        </p:txBody>
      </p:sp>
      <p:sp>
        <p:nvSpPr>
          <p:cNvPr id="5" name="Card"/>
          <p:cNvSpPr/>
          <p:nvPr/>
        </p:nvSpPr>
        <p:spPr>
          <a:xfrm>
            <a:off x="914400" y="2514600"/>
            <a:ext cx="3291840" cy="2423160"/>
          </a:xfrm>
          <a:prstGeom prst="roundRect">
            <a:avLst>
              <a:gd name="adj" fmla="val 3019"/>
            </a:avLst>
          </a:prstGeom>
          <a:solidFill>
            <a:schemeClr val="bg2"/>
          </a:solidFill>
          <a:ln w="12700">
            <a:solidFill>
              <a:schemeClr val="accent6"/>
            </a:solidFill>
            <a:prstDash val="solid"/>
          </a:ln>
        </p:spPr>
      </p:sp>
      <p:sp>
        <p:nvSpPr>
          <p:cNvPr id="6" name="Shape 3"/>
          <p:cNvSpPr/>
          <p:nvPr/>
        </p:nvSpPr>
        <p:spPr>
          <a:xfrm>
            <a:off x="1234440" y="2834640"/>
            <a:ext cx="128016" cy="128016"/>
          </a:xfrm>
          <a:prstGeom prst="ellipse">
            <a:avLst/>
          </a:prstGeom>
          <a:solidFill>
            <a:schemeClr val="accent2"/>
          </a:solidFill>
          <a:ln w="12700">
            <a:solidFill>
              <a:schemeClr val="accent2"/>
            </a:solidFill>
            <a:prstDash val="solid"/>
          </a:ln>
        </p:spPr>
      </p:sp>
      <p:sp>
        <p:nvSpPr>
          <p:cNvPr id="7" name="Text 4"/>
          <p:cNvSpPr txBox="1"/>
          <p:nvPr/>
        </p:nvSpPr>
        <p:spPr>
          <a:xfrm>
            <a:off x="1463040" y="2761488"/>
            <a:ext cx="2286000" cy="274320"/>
          </a:xfrm>
          <a:prstGeom prst="rect">
            <a:avLst/>
          </a:prstGeom>
          <a:noFill/>
          <a:ln/>
        </p:spPr>
        <p:txBody>
          <a:bodyPr wrap="square" lIns="0" tIns="0" rIns="0" bIns="0" rtlCol="0" anchor="ctr"/>
          <a:lstStyle/>
          <a:p>
            <a:pPr indent="0" marL="0">
              <a:buNone/>
            </a:pPr>
            <a:r>
              <a:rPr lang="en-US" sz="1100" spc="200" kern="0" dirty="0">
                <a:solidFill>
                  <a:schemeClr val="accent2"/>
                </a:solidFill>
                <a:latin typeface="Geist Mono" pitchFamily="34" charset="0"/>
                <a:ea typeface="Geist Mono" pitchFamily="34" charset="-122"/>
                <a:cs typeface="Geist Mono" pitchFamily="34" charset="-120"/>
              </a:rPr>
              <a:t>AUTO</a:t>
            </a:r>
            <a:endParaRPr lang="en-US" sz="1100" dirty="0"/>
          </a:p>
        </p:txBody>
      </p:sp>
      <p:sp>
        <p:nvSpPr>
          <p:cNvPr id="8" name="Text 5"/>
          <p:cNvSpPr txBox="1"/>
          <p:nvPr/>
        </p:nvSpPr>
        <p:spPr>
          <a:xfrm>
            <a:off x="1234440" y="3246120"/>
            <a:ext cx="2651760" cy="457200"/>
          </a:xfrm>
          <a:prstGeom prst="rect">
            <a:avLst/>
          </a:prstGeom>
          <a:noFill/>
          <a:ln/>
        </p:spPr>
        <p:txBody>
          <a:bodyPr wrap="square" lIns="0" tIns="0" rIns="0" bIns="0" rtlCol="0" anchor="ctr"/>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Small and expected</a:t>
            </a:r>
            <a:endParaRPr lang="en-US" sz="2000" dirty="0"/>
          </a:p>
        </p:txBody>
      </p:sp>
      <p:sp>
        <p:nvSpPr>
          <p:cNvPr id="9" name="Text 6"/>
          <p:cNvSpPr txBox="1"/>
          <p:nvPr/>
        </p:nvSpPr>
        <p:spPr>
          <a:xfrm>
            <a:off x="1234440" y="3794760"/>
            <a:ext cx="2651760" cy="100584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Under your limit, to allowed recipients. Goes through without a prompt.</a:t>
            </a:r>
            <a:endParaRPr lang="en-US" sz="1400" dirty="0"/>
          </a:p>
        </p:txBody>
      </p:sp>
      <p:sp>
        <p:nvSpPr>
          <p:cNvPr id="10" name="Card"/>
          <p:cNvSpPr/>
          <p:nvPr/>
        </p:nvSpPr>
        <p:spPr>
          <a:xfrm>
            <a:off x="4448556" y="2514600"/>
            <a:ext cx="3291840" cy="2423160"/>
          </a:xfrm>
          <a:prstGeom prst="roundRect">
            <a:avLst>
              <a:gd name="adj" fmla="val 3019"/>
            </a:avLst>
          </a:prstGeom>
          <a:solidFill>
            <a:schemeClr val="bg2"/>
          </a:solidFill>
          <a:ln w="12700">
            <a:solidFill>
              <a:schemeClr val="accent6"/>
            </a:solidFill>
            <a:prstDash val="solid"/>
          </a:ln>
        </p:spPr>
      </p:sp>
      <p:sp>
        <p:nvSpPr>
          <p:cNvPr id="11" name="Shape 8"/>
          <p:cNvSpPr/>
          <p:nvPr/>
        </p:nvSpPr>
        <p:spPr>
          <a:xfrm>
            <a:off x="4768596" y="2834640"/>
            <a:ext cx="128016" cy="128016"/>
          </a:xfrm>
          <a:prstGeom prst="ellipse">
            <a:avLst/>
          </a:prstGeom>
          <a:solidFill>
            <a:schemeClr val="accent1"/>
          </a:solidFill>
          <a:ln w="12700">
            <a:solidFill>
              <a:schemeClr val="accent1"/>
            </a:solidFill>
            <a:prstDash val="solid"/>
          </a:ln>
        </p:spPr>
      </p:sp>
      <p:sp>
        <p:nvSpPr>
          <p:cNvPr id="12" name="Text 9"/>
          <p:cNvSpPr txBox="1"/>
          <p:nvPr/>
        </p:nvSpPr>
        <p:spPr>
          <a:xfrm>
            <a:off x="4997196" y="2761488"/>
            <a:ext cx="228600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NOD</a:t>
            </a:r>
            <a:endParaRPr lang="en-US" sz="1100" dirty="0"/>
          </a:p>
        </p:txBody>
      </p:sp>
      <p:sp>
        <p:nvSpPr>
          <p:cNvPr id="13" name="Text 10"/>
          <p:cNvSpPr txBox="1"/>
          <p:nvPr/>
        </p:nvSpPr>
        <p:spPr>
          <a:xfrm>
            <a:off x="4768596" y="3246120"/>
            <a:ext cx="2651760" cy="457200"/>
          </a:xfrm>
          <a:prstGeom prst="rect">
            <a:avLst/>
          </a:prstGeom>
          <a:noFill/>
          <a:ln/>
        </p:spPr>
        <p:txBody>
          <a:bodyPr wrap="square" lIns="0" tIns="0" rIns="0" bIns="0" rtlCol="0" anchor="ctr"/>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Everything else</a:t>
            </a:r>
            <a:endParaRPr lang="en-US" sz="2000" dirty="0"/>
          </a:p>
        </p:txBody>
      </p:sp>
      <p:sp>
        <p:nvSpPr>
          <p:cNvPr id="14" name="Text 11"/>
          <p:cNvSpPr txBox="1"/>
          <p:nvPr/>
        </p:nvSpPr>
        <p:spPr>
          <a:xfrm>
            <a:off x="4768596" y="3794760"/>
            <a:ext cx="2651760" cy="100584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Larger amounts, new recipients, swaps. Your phone waits for your biometric.</a:t>
            </a:r>
            <a:endParaRPr lang="en-US" sz="1400" dirty="0"/>
          </a:p>
        </p:txBody>
      </p:sp>
      <p:sp>
        <p:nvSpPr>
          <p:cNvPr id="15" name="Card"/>
          <p:cNvSpPr/>
          <p:nvPr/>
        </p:nvSpPr>
        <p:spPr>
          <a:xfrm>
            <a:off x="7982712" y="2514600"/>
            <a:ext cx="3291840" cy="2423160"/>
          </a:xfrm>
          <a:prstGeom prst="roundRect">
            <a:avLst>
              <a:gd name="adj" fmla="val 3019"/>
            </a:avLst>
          </a:prstGeom>
          <a:solidFill>
            <a:schemeClr val="bg2"/>
          </a:solidFill>
          <a:ln w="12700">
            <a:solidFill>
              <a:schemeClr val="accent6"/>
            </a:solidFill>
            <a:prstDash val="solid"/>
          </a:ln>
        </p:spPr>
      </p:sp>
      <p:sp>
        <p:nvSpPr>
          <p:cNvPr id="16" name="Shape 13"/>
          <p:cNvSpPr/>
          <p:nvPr/>
        </p:nvSpPr>
        <p:spPr>
          <a:xfrm>
            <a:off x="8302752" y="2834640"/>
            <a:ext cx="128016" cy="128016"/>
          </a:xfrm>
          <a:prstGeom prst="ellipse">
            <a:avLst/>
          </a:prstGeom>
          <a:solidFill>
            <a:schemeClr val="accent4"/>
          </a:solidFill>
          <a:ln w="12700">
            <a:solidFill>
              <a:schemeClr val="accent4"/>
            </a:solidFill>
            <a:prstDash val="solid"/>
          </a:ln>
        </p:spPr>
      </p:sp>
      <p:sp>
        <p:nvSpPr>
          <p:cNvPr id="17" name="Text 14"/>
          <p:cNvSpPr txBox="1"/>
          <p:nvPr/>
        </p:nvSpPr>
        <p:spPr>
          <a:xfrm>
            <a:off x="8531352" y="2761488"/>
            <a:ext cx="2286000" cy="274320"/>
          </a:xfrm>
          <a:prstGeom prst="rect">
            <a:avLst/>
          </a:prstGeom>
          <a:noFill/>
          <a:ln/>
        </p:spPr>
        <p:txBody>
          <a:bodyPr wrap="square" lIns="0" tIns="0" rIns="0" bIns="0" rtlCol="0" anchor="ctr"/>
          <a:lstStyle/>
          <a:p>
            <a:pPr indent="0" marL="0">
              <a:buNone/>
            </a:pPr>
            <a:r>
              <a:rPr lang="en-US" sz="1100" spc="200" kern="0" dirty="0">
                <a:solidFill>
                  <a:schemeClr val="accent4"/>
                </a:solidFill>
                <a:latin typeface="Geist Mono" pitchFamily="34" charset="0"/>
                <a:ea typeface="Geist Mono" pitchFamily="34" charset="-122"/>
                <a:cs typeface="Geist Mono" pitchFamily="34" charset="-120"/>
              </a:rPr>
              <a:t>BLOCK</a:t>
            </a:r>
            <a:endParaRPr lang="en-US" sz="1100" dirty="0"/>
          </a:p>
        </p:txBody>
      </p:sp>
      <p:sp>
        <p:nvSpPr>
          <p:cNvPr id="18" name="Text 15"/>
          <p:cNvSpPr txBox="1"/>
          <p:nvPr/>
        </p:nvSpPr>
        <p:spPr>
          <a:xfrm>
            <a:off x="8302752" y="3246120"/>
            <a:ext cx="2651760" cy="457200"/>
          </a:xfrm>
          <a:prstGeom prst="rect">
            <a:avLst/>
          </a:prstGeom>
          <a:noFill/>
          <a:ln/>
        </p:spPr>
        <p:txBody>
          <a:bodyPr wrap="square" lIns="0" tIns="0" rIns="0" bIns="0" rtlCol="0" anchor="ctr"/>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Never allowed</a:t>
            </a:r>
            <a:endParaRPr lang="en-US" sz="2000" dirty="0"/>
          </a:p>
        </p:txBody>
      </p:sp>
      <p:sp>
        <p:nvSpPr>
          <p:cNvPr id="19" name="Text 16"/>
          <p:cNvSpPr txBox="1"/>
          <p:nvPr/>
        </p:nvSpPr>
        <p:spPr>
          <a:xfrm>
            <a:off x="8302752" y="3794760"/>
            <a:ext cx="2651760" cy="100584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Unknown programs, authority changes, over the hard cap. Refused automatically.</a:t>
            </a:r>
            <a:endParaRPr lang="en-US" sz="1400" dirty="0"/>
          </a:p>
        </p:txBody>
      </p:sp>
      <p:sp>
        <p:nvSpPr>
          <p:cNvPr id="20" name="Shape 17"/>
          <p:cNvSpPr/>
          <p:nvPr/>
        </p:nvSpPr>
        <p:spPr>
          <a:xfrm>
            <a:off x="914400" y="5349240"/>
            <a:ext cx="2331720" cy="457200"/>
          </a:xfrm>
          <a:prstGeom prst="roundRect">
            <a:avLst>
              <a:gd name="adj" fmla="val 50000"/>
            </a:avLst>
          </a:prstGeom>
          <a:solidFill>
            <a:schemeClr val="bg1"/>
          </a:solidFill>
          <a:ln w="12700">
            <a:solidFill>
              <a:schemeClr val="accent6"/>
            </a:solidFill>
            <a:prstDash val="solid"/>
          </a:ln>
        </p:spPr>
      </p:sp>
      <p:sp>
        <p:nvSpPr>
          <p:cNvPr id="21" name="Text 18"/>
          <p:cNvSpPr txBox="1"/>
          <p:nvPr/>
        </p:nvSpPr>
        <p:spPr>
          <a:xfrm>
            <a:off x="914400" y="5349240"/>
            <a:ext cx="2331720" cy="457200"/>
          </a:xfrm>
          <a:prstGeom prst="rect">
            <a:avLst/>
          </a:prstGeom>
          <a:noFill/>
          <a:ln/>
        </p:spPr>
        <p:txBody>
          <a:bodyPr wrap="square" lIns="0" tIns="0" rIns="0" bIns="0" rtlCol="0" anchor="ctr"/>
          <a:lstStyle/>
          <a:p>
            <a:pPr algn="ctr" indent="0" marL="0">
              <a:buNone/>
            </a:pPr>
            <a:r>
              <a:rPr lang="en-US" sz="1000" spc="100" kern="0" dirty="0">
                <a:solidFill>
                  <a:schemeClr val="tx2"/>
                </a:solidFill>
                <a:latin typeface="Geist Mono" pitchFamily="34" charset="0"/>
                <a:ea typeface="Geist Mono" pitchFamily="34" charset="-122"/>
                <a:cs typeface="Geist Mono" pitchFamily="34" charset="-120"/>
              </a:rPr>
              <a:t>DAILY SPEND CAP</a:t>
            </a:r>
            <a:endParaRPr lang="en-US" sz="1000" dirty="0"/>
          </a:p>
        </p:txBody>
      </p:sp>
      <p:sp>
        <p:nvSpPr>
          <p:cNvPr id="22" name="Shape 19"/>
          <p:cNvSpPr/>
          <p:nvPr/>
        </p:nvSpPr>
        <p:spPr>
          <a:xfrm>
            <a:off x="3383280" y="5349240"/>
            <a:ext cx="2697480" cy="457200"/>
          </a:xfrm>
          <a:prstGeom prst="roundRect">
            <a:avLst>
              <a:gd name="adj" fmla="val 50000"/>
            </a:avLst>
          </a:prstGeom>
          <a:solidFill>
            <a:schemeClr val="bg1"/>
          </a:solidFill>
          <a:ln w="12700">
            <a:solidFill>
              <a:schemeClr val="accent6"/>
            </a:solidFill>
            <a:prstDash val="solid"/>
          </a:ln>
        </p:spPr>
      </p:sp>
      <p:sp>
        <p:nvSpPr>
          <p:cNvPr id="23" name="Text 20"/>
          <p:cNvSpPr txBox="1"/>
          <p:nvPr/>
        </p:nvSpPr>
        <p:spPr>
          <a:xfrm>
            <a:off x="3383280" y="5349240"/>
            <a:ext cx="2697480" cy="457200"/>
          </a:xfrm>
          <a:prstGeom prst="rect">
            <a:avLst/>
          </a:prstGeom>
          <a:noFill/>
          <a:ln/>
        </p:spPr>
        <p:txBody>
          <a:bodyPr wrap="square" lIns="0" tIns="0" rIns="0" bIns="0" rtlCol="0" anchor="ctr"/>
          <a:lstStyle/>
          <a:p>
            <a:pPr algn="ctr" indent="0" marL="0">
              <a:buNone/>
            </a:pPr>
            <a:r>
              <a:rPr lang="en-US" sz="1000" spc="100" kern="0" dirty="0">
                <a:solidFill>
                  <a:schemeClr val="tx2"/>
                </a:solidFill>
                <a:latin typeface="Geist Mono" pitchFamily="34" charset="0"/>
                <a:ea typeface="Geist Mono" pitchFamily="34" charset="-122"/>
                <a:cs typeface="Geist Mono" pitchFamily="34" charset="-120"/>
              </a:rPr>
              <a:t>ALLOWED RECIPIENTS</a:t>
            </a:r>
            <a:endParaRPr lang="en-US" sz="1000" dirty="0"/>
          </a:p>
        </p:txBody>
      </p:sp>
      <p:sp>
        <p:nvSpPr>
          <p:cNvPr id="24" name="Shape 21"/>
          <p:cNvSpPr/>
          <p:nvPr/>
        </p:nvSpPr>
        <p:spPr>
          <a:xfrm>
            <a:off x="6217920" y="5349240"/>
            <a:ext cx="2560320" cy="457200"/>
          </a:xfrm>
          <a:prstGeom prst="roundRect">
            <a:avLst>
              <a:gd name="adj" fmla="val 50000"/>
            </a:avLst>
          </a:prstGeom>
          <a:solidFill>
            <a:schemeClr val="bg1"/>
          </a:solidFill>
          <a:ln w="12700">
            <a:solidFill>
              <a:schemeClr val="accent6"/>
            </a:solidFill>
            <a:prstDash val="solid"/>
          </a:ln>
        </p:spPr>
      </p:sp>
      <p:sp>
        <p:nvSpPr>
          <p:cNvPr id="25" name="Text 22"/>
          <p:cNvSpPr txBox="1"/>
          <p:nvPr/>
        </p:nvSpPr>
        <p:spPr>
          <a:xfrm>
            <a:off x="6217920" y="5349240"/>
            <a:ext cx="2560320" cy="457200"/>
          </a:xfrm>
          <a:prstGeom prst="rect">
            <a:avLst/>
          </a:prstGeom>
          <a:noFill/>
          <a:ln/>
        </p:spPr>
        <p:txBody>
          <a:bodyPr wrap="square" lIns="0" tIns="0" rIns="0" bIns="0" rtlCol="0" anchor="ctr"/>
          <a:lstStyle/>
          <a:p>
            <a:pPr algn="ctr" indent="0" marL="0">
              <a:buNone/>
            </a:pPr>
            <a:r>
              <a:rPr lang="en-US" sz="1000" spc="100" kern="0" dirty="0">
                <a:solidFill>
                  <a:schemeClr val="tx2"/>
                </a:solidFill>
                <a:latin typeface="Geist Mono" pitchFamily="34" charset="0"/>
                <a:ea typeface="Geist Mono" pitchFamily="34" charset="-122"/>
                <a:cs typeface="Geist Mono" pitchFamily="34" charset="-120"/>
              </a:rPr>
              <a:t>FREEZE IN ONE TAP</a:t>
            </a:r>
            <a:endParaRPr lang="en-US" sz="1000" dirty="0"/>
          </a:p>
        </p:txBody>
      </p:sp>
      <p:sp>
        <p:nvSpPr>
          <p:cNvPr id="26" name="Shape 23"/>
          <p:cNvSpPr/>
          <p:nvPr/>
        </p:nvSpPr>
        <p:spPr>
          <a:xfrm>
            <a:off x="8915400" y="5349240"/>
            <a:ext cx="2743200" cy="457200"/>
          </a:xfrm>
          <a:prstGeom prst="roundRect">
            <a:avLst>
              <a:gd name="adj" fmla="val 50000"/>
            </a:avLst>
          </a:prstGeom>
          <a:solidFill>
            <a:schemeClr val="bg1"/>
          </a:solidFill>
          <a:ln w="12700">
            <a:solidFill>
              <a:schemeClr val="accent6"/>
            </a:solidFill>
            <a:prstDash val="solid"/>
          </a:ln>
        </p:spPr>
      </p:sp>
      <p:sp>
        <p:nvSpPr>
          <p:cNvPr id="27" name="Text 24"/>
          <p:cNvSpPr txBox="1"/>
          <p:nvPr/>
        </p:nvSpPr>
        <p:spPr>
          <a:xfrm>
            <a:off x="8915400" y="5349240"/>
            <a:ext cx="2743200" cy="457200"/>
          </a:xfrm>
          <a:prstGeom prst="rect">
            <a:avLst/>
          </a:prstGeom>
          <a:noFill/>
          <a:ln/>
        </p:spPr>
        <p:txBody>
          <a:bodyPr wrap="square" lIns="0" tIns="0" rIns="0" bIns="0" rtlCol="0" anchor="ctr"/>
          <a:lstStyle/>
          <a:p>
            <a:pPr algn="ctr" indent="0" marL="0">
              <a:buNone/>
            </a:pPr>
            <a:r>
              <a:rPr lang="en-US" sz="1000" spc="100" kern="0" dirty="0">
                <a:solidFill>
                  <a:schemeClr val="tx2"/>
                </a:solidFill>
                <a:latin typeface="Geist Mono" pitchFamily="34" charset="0"/>
                <a:ea typeface="Geist Mono" pitchFamily="34" charset="-122"/>
                <a:cs typeface="Geist Mono" pitchFamily="34" charset="-120"/>
              </a:rPr>
              <a:t>REVOKE KEYS ANY TIME</a:t>
            </a:r>
            <a:endParaRPr lang="en-US" sz="10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06 · BUILT ON SOLANA MOBILE</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Native to Solana Mobile.</a:t>
            </a:r>
            <a:endParaRPr lang="en-US" sz="3400" dirty="0"/>
          </a:p>
        </p:txBody>
      </p:sp>
      <p:sp>
        <p:nvSpPr>
          <p:cNvPr id="5" name="Card"/>
          <p:cNvSpPr/>
          <p:nvPr/>
        </p:nvSpPr>
        <p:spPr>
          <a:xfrm>
            <a:off x="914400" y="2331720"/>
            <a:ext cx="3291840" cy="1783080"/>
          </a:xfrm>
          <a:prstGeom prst="roundRect">
            <a:avLst>
              <a:gd name="adj" fmla="val 4103"/>
            </a:avLst>
          </a:prstGeom>
          <a:solidFill>
            <a:schemeClr val="bg2"/>
          </a:solidFill>
          <a:ln w="12700">
            <a:solidFill>
              <a:schemeClr val="accent6"/>
            </a:solidFill>
            <a:prstDash val="solid"/>
          </a:ln>
        </p:spPr>
      </p:sp>
      <p:sp>
        <p:nvSpPr>
          <p:cNvPr id="6" name="Shape 3"/>
          <p:cNvSpPr/>
          <p:nvPr/>
        </p:nvSpPr>
        <p:spPr>
          <a:xfrm>
            <a:off x="1234440" y="2670048"/>
            <a:ext cx="128016" cy="128016"/>
          </a:xfrm>
          <a:prstGeom prst="ellipse">
            <a:avLst/>
          </a:prstGeom>
          <a:solidFill>
            <a:schemeClr val="accent1"/>
          </a:solidFill>
          <a:ln w="12700">
            <a:solidFill>
              <a:schemeClr val="accent1"/>
            </a:solidFill>
            <a:prstDash val="solid"/>
          </a:ln>
        </p:spPr>
      </p:sp>
      <p:sp>
        <p:nvSpPr>
          <p:cNvPr id="7" name="Text 4"/>
          <p:cNvSpPr txBox="1"/>
          <p:nvPr/>
        </p:nvSpPr>
        <p:spPr>
          <a:xfrm>
            <a:off x="1463040" y="2560320"/>
            <a:ext cx="2468880" cy="365760"/>
          </a:xfrm>
          <a:prstGeom prst="rect">
            <a:avLst/>
          </a:prstGeom>
          <a:noFill/>
          <a:ln/>
        </p:spPr>
        <p:txBody>
          <a:bodyPr wrap="square" lIns="0" tIns="0" rIns="0" bIns="0" rtlCol="0" anchor="ctr"/>
          <a:lstStyle/>
          <a:p>
            <a:pPr indent="0" marL="0">
              <a:buNone/>
            </a:pPr>
            <a:r>
              <a:rPr lang="en-US" sz="1700" dirty="0">
                <a:solidFill>
                  <a:schemeClr val="tx1"/>
                </a:solidFill>
                <a:latin typeface="Plus Jakarta Sans" pitchFamily="34" charset="0"/>
                <a:ea typeface="Plus Jakarta Sans" pitchFamily="34" charset="-122"/>
                <a:cs typeface="Plus Jakarta Sans" pitchFamily="34" charset="-120"/>
              </a:rPr>
              <a:t>Mobile Wallet Adapter</a:t>
            </a:r>
            <a:endParaRPr lang="en-US" sz="1700" dirty="0"/>
          </a:p>
        </p:txBody>
      </p:sp>
      <p:sp>
        <p:nvSpPr>
          <p:cNvPr id="8" name="Text 5"/>
          <p:cNvSpPr txBox="1"/>
          <p:nvPr/>
        </p:nvSpPr>
        <p:spPr>
          <a:xfrm>
            <a:off x="1234440" y="3108960"/>
            <a:ext cx="2651760" cy="8686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Signing in your own wallet. Keys never enter Nod.</a:t>
            </a:r>
            <a:endParaRPr lang="en-US" sz="1400" dirty="0"/>
          </a:p>
        </p:txBody>
      </p:sp>
      <p:sp>
        <p:nvSpPr>
          <p:cNvPr id="9" name="Card"/>
          <p:cNvSpPr/>
          <p:nvPr/>
        </p:nvSpPr>
        <p:spPr>
          <a:xfrm>
            <a:off x="4448556" y="2331720"/>
            <a:ext cx="3291840" cy="1783080"/>
          </a:xfrm>
          <a:prstGeom prst="roundRect">
            <a:avLst>
              <a:gd name="adj" fmla="val 4103"/>
            </a:avLst>
          </a:prstGeom>
          <a:solidFill>
            <a:schemeClr val="bg2"/>
          </a:solidFill>
          <a:ln w="12700">
            <a:solidFill>
              <a:schemeClr val="accent6"/>
            </a:solidFill>
            <a:prstDash val="solid"/>
          </a:ln>
        </p:spPr>
      </p:sp>
      <p:sp>
        <p:nvSpPr>
          <p:cNvPr id="10" name="Shape 7"/>
          <p:cNvSpPr/>
          <p:nvPr/>
        </p:nvSpPr>
        <p:spPr>
          <a:xfrm>
            <a:off x="4768596" y="2670048"/>
            <a:ext cx="128016" cy="128016"/>
          </a:xfrm>
          <a:prstGeom prst="ellipse">
            <a:avLst/>
          </a:prstGeom>
          <a:solidFill>
            <a:schemeClr val="accent1"/>
          </a:solidFill>
          <a:ln w="12700">
            <a:solidFill>
              <a:schemeClr val="accent1"/>
            </a:solidFill>
            <a:prstDash val="solid"/>
          </a:ln>
        </p:spPr>
      </p:sp>
      <p:sp>
        <p:nvSpPr>
          <p:cNvPr id="11" name="Text 8"/>
          <p:cNvSpPr txBox="1"/>
          <p:nvPr/>
        </p:nvSpPr>
        <p:spPr>
          <a:xfrm>
            <a:off x="4997196" y="2560320"/>
            <a:ext cx="2468880" cy="365760"/>
          </a:xfrm>
          <a:prstGeom prst="rect">
            <a:avLst/>
          </a:prstGeom>
          <a:noFill/>
          <a:ln/>
        </p:spPr>
        <p:txBody>
          <a:bodyPr wrap="square" lIns="0" tIns="0" rIns="0" bIns="0" rtlCol="0" anchor="ctr"/>
          <a:lstStyle/>
          <a:p>
            <a:pPr indent="0" marL="0">
              <a:buNone/>
            </a:pPr>
            <a:r>
              <a:rPr lang="en-US" sz="1700" dirty="0">
                <a:solidFill>
                  <a:schemeClr val="tx1"/>
                </a:solidFill>
                <a:latin typeface="Plus Jakarta Sans" pitchFamily="34" charset="0"/>
                <a:ea typeface="Plus Jakarta Sans" pitchFamily="34" charset="-122"/>
                <a:cs typeface="Plus Jakarta Sans" pitchFamily="34" charset="-120"/>
              </a:rPr>
              <a:t>Seed Vault ready</a:t>
            </a:r>
            <a:endParaRPr lang="en-US" sz="1700" dirty="0"/>
          </a:p>
        </p:txBody>
      </p:sp>
      <p:sp>
        <p:nvSpPr>
          <p:cNvPr id="12" name="Text 9"/>
          <p:cNvSpPr txBox="1"/>
          <p:nvPr/>
        </p:nvSpPr>
        <p:spPr>
          <a:xfrm>
            <a:off x="4768596" y="3108960"/>
            <a:ext cx="2651760" cy="8686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Works with any MWA wallet, Seed Vault on a Seeker included.</a:t>
            </a:r>
            <a:endParaRPr lang="en-US" sz="1400" dirty="0"/>
          </a:p>
        </p:txBody>
      </p:sp>
      <p:sp>
        <p:nvSpPr>
          <p:cNvPr id="13" name="Card"/>
          <p:cNvSpPr/>
          <p:nvPr/>
        </p:nvSpPr>
        <p:spPr>
          <a:xfrm>
            <a:off x="7982712" y="2331720"/>
            <a:ext cx="3291840" cy="1783080"/>
          </a:xfrm>
          <a:prstGeom prst="roundRect">
            <a:avLst>
              <a:gd name="adj" fmla="val 4103"/>
            </a:avLst>
          </a:prstGeom>
          <a:solidFill>
            <a:schemeClr val="bg2"/>
          </a:solidFill>
          <a:ln w="12700">
            <a:solidFill>
              <a:schemeClr val="accent6"/>
            </a:solidFill>
            <a:prstDash val="solid"/>
          </a:ln>
        </p:spPr>
      </p:sp>
      <p:sp>
        <p:nvSpPr>
          <p:cNvPr id="14" name="Shape 11"/>
          <p:cNvSpPr/>
          <p:nvPr/>
        </p:nvSpPr>
        <p:spPr>
          <a:xfrm>
            <a:off x="8302752" y="2670048"/>
            <a:ext cx="128016" cy="128016"/>
          </a:xfrm>
          <a:prstGeom prst="ellipse">
            <a:avLst/>
          </a:prstGeom>
          <a:solidFill>
            <a:schemeClr val="accent1"/>
          </a:solidFill>
          <a:ln w="12700">
            <a:solidFill>
              <a:schemeClr val="accent1"/>
            </a:solidFill>
            <a:prstDash val="solid"/>
          </a:ln>
        </p:spPr>
      </p:sp>
      <p:sp>
        <p:nvSpPr>
          <p:cNvPr id="15" name="Text 12"/>
          <p:cNvSpPr txBox="1"/>
          <p:nvPr/>
        </p:nvSpPr>
        <p:spPr>
          <a:xfrm>
            <a:off x="8531352" y="2560320"/>
            <a:ext cx="2468880" cy="365760"/>
          </a:xfrm>
          <a:prstGeom prst="rect">
            <a:avLst/>
          </a:prstGeom>
          <a:noFill/>
          <a:ln/>
        </p:spPr>
        <p:txBody>
          <a:bodyPr wrap="square" lIns="0" tIns="0" rIns="0" bIns="0" rtlCol="0" anchor="ctr"/>
          <a:lstStyle/>
          <a:p>
            <a:pPr indent="0" marL="0">
              <a:buNone/>
            </a:pPr>
            <a:r>
              <a:rPr lang="en-US" sz="1700" dirty="0">
                <a:solidFill>
                  <a:schemeClr val="tx1"/>
                </a:solidFill>
                <a:latin typeface="Plus Jakarta Sans" pitchFamily="34" charset="0"/>
                <a:ea typeface="Plus Jakarta Sans" pitchFamily="34" charset="-122"/>
                <a:cs typeface="Plus Jakarta Sans" pitchFamily="34" charset="-120"/>
              </a:rPr>
              <a:t>Biometric gate</a:t>
            </a:r>
            <a:endParaRPr lang="en-US" sz="1700" dirty="0"/>
          </a:p>
        </p:txBody>
      </p:sp>
      <p:sp>
        <p:nvSpPr>
          <p:cNvPr id="16" name="Text 13"/>
          <p:cNvSpPr txBox="1"/>
          <p:nvPr/>
        </p:nvSpPr>
        <p:spPr>
          <a:xfrm>
            <a:off x="8302752" y="3108960"/>
            <a:ext cx="2651760" cy="8686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Android system prompt with screen-lock fallback. Hold to approve.</a:t>
            </a:r>
            <a:endParaRPr lang="en-US" sz="1400" dirty="0"/>
          </a:p>
        </p:txBody>
      </p:sp>
      <p:sp>
        <p:nvSpPr>
          <p:cNvPr id="17" name="Card"/>
          <p:cNvSpPr/>
          <p:nvPr/>
        </p:nvSpPr>
        <p:spPr>
          <a:xfrm>
            <a:off x="914400" y="4297680"/>
            <a:ext cx="3291840" cy="1783080"/>
          </a:xfrm>
          <a:prstGeom prst="roundRect">
            <a:avLst>
              <a:gd name="adj" fmla="val 4103"/>
            </a:avLst>
          </a:prstGeom>
          <a:solidFill>
            <a:schemeClr val="bg2"/>
          </a:solidFill>
          <a:ln w="12700">
            <a:solidFill>
              <a:schemeClr val="accent6"/>
            </a:solidFill>
            <a:prstDash val="solid"/>
          </a:ln>
        </p:spPr>
      </p:sp>
      <p:sp>
        <p:nvSpPr>
          <p:cNvPr id="18" name="Shape 15"/>
          <p:cNvSpPr/>
          <p:nvPr/>
        </p:nvSpPr>
        <p:spPr>
          <a:xfrm>
            <a:off x="1234440" y="4636008"/>
            <a:ext cx="128016" cy="128016"/>
          </a:xfrm>
          <a:prstGeom prst="ellipse">
            <a:avLst/>
          </a:prstGeom>
          <a:solidFill>
            <a:schemeClr val="accent1"/>
          </a:solidFill>
          <a:ln w="12700">
            <a:solidFill>
              <a:schemeClr val="accent1"/>
            </a:solidFill>
            <a:prstDash val="solid"/>
          </a:ln>
        </p:spPr>
      </p:sp>
      <p:sp>
        <p:nvSpPr>
          <p:cNvPr id="19" name="Text 16"/>
          <p:cNvSpPr txBox="1"/>
          <p:nvPr/>
        </p:nvSpPr>
        <p:spPr>
          <a:xfrm>
            <a:off x="1463040" y="4526280"/>
            <a:ext cx="2468880" cy="365760"/>
          </a:xfrm>
          <a:prstGeom prst="rect">
            <a:avLst/>
          </a:prstGeom>
          <a:noFill/>
          <a:ln/>
        </p:spPr>
        <p:txBody>
          <a:bodyPr wrap="square" lIns="0" tIns="0" rIns="0" bIns="0" rtlCol="0" anchor="ctr"/>
          <a:lstStyle/>
          <a:p>
            <a:pPr indent="0" marL="0">
              <a:buNone/>
            </a:pPr>
            <a:r>
              <a:rPr lang="en-US" sz="1700" dirty="0">
                <a:solidFill>
                  <a:schemeClr val="tx1"/>
                </a:solidFill>
                <a:latin typeface="Plus Jakarta Sans" pitchFamily="34" charset="0"/>
                <a:ea typeface="Plus Jakarta Sans" pitchFamily="34" charset="-122"/>
                <a:cs typeface="Plus Jakarta Sans" pitchFamily="34" charset="-120"/>
              </a:rPr>
              <a:t>Minimal push</a:t>
            </a:r>
            <a:endParaRPr lang="en-US" sz="1700" dirty="0"/>
          </a:p>
        </p:txBody>
      </p:sp>
      <p:sp>
        <p:nvSpPr>
          <p:cNvPr id="20" name="Text 17"/>
          <p:cNvSpPr txBox="1"/>
          <p:nvPr/>
        </p:nvSpPr>
        <p:spPr>
          <a:xfrm>
            <a:off x="1234440" y="5074920"/>
            <a:ext cx="2651760" cy="8686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Notifications carry only a proposal id, never amounts.</a:t>
            </a:r>
            <a:endParaRPr lang="en-US" sz="1400" dirty="0"/>
          </a:p>
        </p:txBody>
      </p:sp>
      <p:sp>
        <p:nvSpPr>
          <p:cNvPr id="21" name="Card"/>
          <p:cNvSpPr/>
          <p:nvPr/>
        </p:nvSpPr>
        <p:spPr>
          <a:xfrm>
            <a:off x="4448556" y="4297680"/>
            <a:ext cx="3291840" cy="1783080"/>
          </a:xfrm>
          <a:prstGeom prst="roundRect">
            <a:avLst>
              <a:gd name="adj" fmla="val 4103"/>
            </a:avLst>
          </a:prstGeom>
          <a:solidFill>
            <a:schemeClr val="bg2"/>
          </a:solidFill>
          <a:ln w="12700">
            <a:solidFill>
              <a:schemeClr val="accent6"/>
            </a:solidFill>
            <a:prstDash val="solid"/>
          </a:ln>
        </p:spPr>
      </p:sp>
      <p:sp>
        <p:nvSpPr>
          <p:cNvPr id="22" name="Shape 19"/>
          <p:cNvSpPr/>
          <p:nvPr/>
        </p:nvSpPr>
        <p:spPr>
          <a:xfrm>
            <a:off x="4768596" y="4636008"/>
            <a:ext cx="128016" cy="128016"/>
          </a:xfrm>
          <a:prstGeom prst="ellipse">
            <a:avLst/>
          </a:prstGeom>
          <a:solidFill>
            <a:schemeClr val="accent1"/>
          </a:solidFill>
          <a:ln w="12700">
            <a:solidFill>
              <a:schemeClr val="accent1"/>
            </a:solidFill>
            <a:prstDash val="solid"/>
          </a:ln>
        </p:spPr>
      </p:sp>
      <p:sp>
        <p:nvSpPr>
          <p:cNvPr id="23" name="Text 20"/>
          <p:cNvSpPr txBox="1"/>
          <p:nvPr/>
        </p:nvSpPr>
        <p:spPr>
          <a:xfrm>
            <a:off x="4997196" y="4526280"/>
            <a:ext cx="2468880" cy="365760"/>
          </a:xfrm>
          <a:prstGeom prst="rect">
            <a:avLst/>
          </a:prstGeom>
          <a:noFill/>
          <a:ln/>
        </p:spPr>
        <p:txBody>
          <a:bodyPr wrap="square" lIns="0" tIns="0" rIns="0" bIns="0" rtlCol="0" anchor="ctr"/>
          <a:lstStyle/>
          <a:p>
            <a:pPr indent="0" marL="0">
              <a:buNone/>
            </a:pPr>
            <a:r>
              <a:rPr lang="en-US" sz="1700" dirty="0">
                <a:solidFill>
                  <a:schemeClr val="tx1"/>
                </a:solidFill>
                <a:latin typeface="Plus Jakarta Sans" pitchFamily="34" charset="0"/>
                <a:ea typeface="Plus Jakarta Sans" pitchFamily="34" charset="-122"/>
                <a:cs typeface="Plus Jakarta Sans" pitchFamily="34" charset="-120"/>
              </a:rPr>
              <a:t>Local simulation</a:t>
            </a:r>
            <a:endParaRPr lang="en-US" sz="1700" dirty="0"/>
          </a:p>
        </p:txBody>
      </p:sp>
      <p:sp>
        <p:nvSpPr>
          <p:cNvPr id="24" name="Text 21"/>
          <p:cNvSpPr txBox="1"/>
          <p:nvPr/>
        </p:nvSpPr>
        <p:spPr>
          <a:xfrm>
            <a:off x="4768596" y="5074920"/>
            <a:ext cx="2651760" cy="8686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Decodes and simulates the exact bytes about to be signed.</a:t>
            </a:r>
            <a:endParaRPr lang="en-US" sz="1400" dirty="0"/>
          </a:p>
        </p:txBody>
      </p:sp>
      <p:sp>
        <p:nvSpPr>
          <p:cNvPr id="25" name="Card"/>
          <p:cNvSpPr/>
          <p:nvPr/>
        </p:nvSpPr>
        <p:spPr>
          <a:xfrm>
            <a:off x="7982712" y="4297680"/>
            <a:ext cx="3291840" cy="1783080"/>
          </a:xfrm>
          <a:prstGeom prst="roundRect">
            <a:avLst>
              <a:gd name="adj" fmla="val 4103"/>
            </a:avLst>
          </a:prstGeom>
          <a:solidFill>
            <a:schemeClr val="bg2"/>
          </a:solidFill>
          <a:ln w="12700">
            <a:solidFill>
              <a:schemeClr val="accent6"/>
            </a:solidFill>
            <a:prstDash val="solid"/>
          </a:ln>
        </p:spPr>
      </p:sp>
      <p:sp>
        <p:nvSpPr>
          <p:cNvPr id="26" name="Shape 23"/>
          <p:cNvSpPr/>
          <p:nvPr/>
        </p:nvSpPr>
        <p:spPr>
          <a:xfrm>
            <a:off x="8302752" y="4636008"/>
            <a:ext cx="128016" cy="128016"/>
          </a:xfrm>
          <a:prstGeom prst="ellipse">
            <a:avLst/>
          </a:prstGeom>
          <a:solidFill>
            <a:schemeClr val="accent1"/>
          </a:solidFill>
          <a:ln w="12700">
            <a:solidFill>
              <a:schemeClr val="accent1"/>
            </a:solidFill>
            <a:prstDash val="solid"/>
          </a:ln>
        </p:spPr>
      </p:sp>
      <p:sp>
        <p:nvSpPr>
          <p:cNvPr id="27" name="Text 24"/>
          <p:cNvSpPr txBox="1"/>
          <p:nvPr/>
        </p:nvSpPr>
        <p:spPr>
          <a:xfrm>
            <a:off x="8531352" y="4526280"/>
            <a:ext cx="2468880" cy="365760"/>
          </a:xfrm>
          <a:prstGeom prst="rect">
            <a:avLst/>
          </a:prstGeom>
          <a:noFill/>
          <a:ln/>
        </p:spPr>
        <p:txBody>
          <a:bodyPr wrap="square" lIns="0" tIns="0" rIns="0" bIns="0" rtlCol="0" anchor="ctr"/>
          <a:lstStyle/>
          <a:p>
            <a:pPr indent="0" marL="0">
              <a:buNone/>
            </a:pPr>
            <a:r>
              <a:rPr lang="en-US" sz="1700" dirty="0">
                <a:solidFill>
                  <a:schemeClr val="tx1"/>
                </a:solidFill>
                <a:latin typeface="Plus Jakarta Sans" pitchFamily="34" charset="0"/>
                <a:ea typeface="Plus Jakarta Sans" pitchFamily="34" charset="-122"/>
                <a:cs typeface="Plus Jakarta Sans" pitchFamily="34" charset="-120"/>
              </a:rPr>
              <a:t>Jupiter-aware</a:t>
            </a:r>
            <a:endParaRPr lang="en-US" sz="1700" dirty="0"/>
          </a:p>
        </p:txBody>
      </p:sp>
      <p:sp>
        <p:nvSpPr>
          <p:cNvPr id="28" name="Text 25"/>
          <p:cNvSpPr txBox="1"/>
          <p:nvPr/>
        </p:nvSpPr>
        <p:spPr>
          <a:xfrm>
            <a:off x="8302752" y="5074920"/>
            <a:ext cx="2651760" cy="8686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Swaps are decoded from the route, on mainnet.</a:t>
            </a:r>
            <a:endParaRPr lang="en-US" sz="14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07 · ARCHITECTURE</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How the pieces fit.</a:t>
            </a:r>
            <a:endParaRPr lang="en-US" sz="3400" dirty="0"/>
          </a:p>
        </p:txBody>
      </p:sp>
      <p:sp>
        <p:nvSpPr>
          <p:cNvPr id="5" name="Card"/>
          <p:cNvSpPr/>
          <p:nvPr/>
        </p:nvSpPr>
        <p:spPr>
          <a:xfrm>
            <a:off x="914400" y="2514600"/>
            <a:ext cx="1783080" cy="1554480"/>
          </a:xfrm>
          <a:prstGeom prst="roundRect">
            <a:avLst>
              <a:gd name="adj" fmla="val 4706"/>
            </a:avLst>
          </a:prstGeom>
          <a:solidFill>
            <a:schemeClr val="bg2"/>
          </a:solidFill>
          <a:ln w="12700">
            <a:solidFill>
              <a:schemeClr val="accent6"/>
            </a:solidFill>
            <a:prstDash val="solid"/>
          </a:ln>
        </p:spPr>
      </p:sp>
      <p:sp>
        <p:nvSpPr>
          <p:cNvPr id="6" name="Text 3"/>
          <p:cNvSpPr txBox="1"/>
          <p:nvPr/>
        </p:nvSpPr>
        <p:spPr>
          <a:xfrm>
            <a:off x="1097280" y="2834640"/>
            <a:ext cx="141732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AI AGENT</a:t>
            </a:r>
            <a:endParaRPr lang="en-US" sz="1100" dirty="0"/>
          </a:p>
        </p:txBody>
      </p:sp>
      <p:sp>
        <p:nvSpPr>
          <p:cNvPr id="7" name="Text 4"/>
          <p:cNvSpPr txBox="1"/>
          <p:nvPr/>
        </p:nvSpPr>
        <p:spPr>
          <a:xfrm>
            <a:off x="1097280" y="3246120"/>
            <a:ext cx="1417320" cy="640080"/>
          </a:xfrm>
          <a:prstGeom prst="rect">
            <a:avLst/>
          </a:prstGeom>
          <a:noFill/>
          <a:ln/>
        </p:spPr>
        <p:txBody>
          <a:bodyPr wrap="square" lIns="0" tIns="0" rIns="0" bIns="0" rtlCol="0" anchor="t"/>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nod-sdk</a:t>
            </a:r>
            <a:endParaRPr lang="en-US" sz="1400" dirty="0"/>
          </a:p>
        </p:txBody>
      </p:sp>
      <p:sp>
        <p:nvSpPr>
          <p:cNvPr id="8" name="Text 5"/>
          <p:cNvSpPr txBox="1"/>
          <p:nvPr/>
        </p:nvSpPr>
        <p:spPr>
          <a:xfrm>
            <a:off x="2697480" y="2926080"/>
            <a:ext cx="361188" cy="548640"/>
          </a:xfrm>
          <a:prstGeom prst="rect">
            <a:avLst/>
          </a:prstGeom>
          <a:noFill/>
          <a:ln/>
        </p:spPr>
        <p:txBody>
          <a:bodyPr wrap="square" lIns="0" tIns="0" rIns="0" bIns="0" rtlCol="0" anchor="ctr"/>
          <a:lstStyle/>
          <a:p>
            <a:pPr algn="ctr" indent="0" marL="0">
              <a:buNone/>
            </a:pPr>
            <a:r>
              <a:rPr lang="en-US" sz="2400" dirty="0">
                <a:solidFill>
                  <a:schemeClr val="accent1"/>
                </a:solidFill>
                <a:latin typeface="Geist Mono" pitchFamily="34" charset="0"/>
                <a:ea typeface="Geist Mono" pitchFamily="34" charset="-122"/>
                <a:cs typeface="Geist Mono" pitchFamily="34" charset="-120"/>
              </a:rPr>
              <a:t>›</a:t>
            </a:r>
            <a:endParaRPr lang="en-US" sz="2400" dirty="0"/>
          </a:p>
        </p:txBody>
      </p:sp>
      <p:sp>
        <p:nvSpPr>
          <p:cNvPr id="9" name="Card"/>
          <p:cNvSpPr/>
          <p:nvPr/>
        </p:nvSpPr>
        <p:spPr>
          <a:xfrm>
            <a:off x="3058668" y="2514600"/>
            <a:ext cx="1783080" cy="1554480"/>
          </a:xfrm>
          <a:prstGeom prst="roundRect">
            <a:avLst>
              <a:gd name="adj" fmla="val 4706"/>
            </a:avLst>
          </a:prstGeom>
          <a:solidFill>
            <a:schemeClr val="bg2"/>
          </a:solidFill>
          <a:ln w="12700">
            <a:solidFill>
              <a:schemeClr val="accent6"/>
            </a:solidFill>
            <a:prstDash val="solid"/>
          </a:ln>
        </p:spPr>
      </p:sp>
      <p:sp>
        <p:nvSpPr>
          <p:cNvPr id="10" name="Text 7"/>
          <p:cNvSpPr txBox="1"/>
          <p:nvPr/>
        </p:nvSpPr>
        <p:spPr>
          <a:xfrm>
            <a:off x="3241548" y="2834640"/>
            <a:ext cx="141732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NOD BACKEND</a:t>
            </a:r>
            <a:endParaRPr lang="en-US" sz="1100" dirty="0"/>
          </a:p>
        </p:txBody>
      </p:sp>
      <p:sp>
        <p:nvSpPr>
          <p:cNvPr id="11" name="Text 8"/>
          <p:cNvSpPr txBox="1"/>
          <p:nvPr/>
        </p:nvSpPr>
        <p:spPr>
          <a:xfrm>
            <a:off x="3241548" y="3246120"/>
            <a:ext cx="1417320" cy="640080"/>
          </a:xfrm>
          <a:prstGeom prst="rect">
            <a:avLst/>
          </a:prstGeom>
          <a:noFill/>
          <a:ln/>
        </p:spPr>
        <p:txBody>
          <a:bodyPr wrap="square" lIns="0" tIns="0" rIns="0" bIns="0" rtlCol="0" anchor="t"/>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policy + push</a:t>
            </a:r>
            <a:endParaRPr lang="en-US" sz="1400" dirty="0"/>
          </a:p>
        </p:txBody>
      </p:sp>
      <p:sp>
        <p:nvSpPr>
          <p:cNvPr id="12" name="Text 9"/>
          <p:cNvSpPr txBox="1"/>
          <p:nvPr/>
        </p:nvSpPr>
        <p:spPr>
          <a:xfrm>
            <a:off x="4841748" y="2926080"/>
            <a:ext cx="361188" cy="548640"/>
          </a:xfrm>
          <a:prstGeom prst="rect">
            <a:avLst/>
          </a:prstGeom>
          <a:noFill/>
          <a:ln/>
        </p:spPr>
        <p:txBody>
          <a:bodyPr wrap="square" lIns="0" tIns="0" rIns="0" bIns="0" rtlCol="0" anchor="ctr"/>
          <a:lstStyle/>
          <a:p>
            <a:pPr algn="ctr" indent="0" marL="0">
              <a:buNone/>
            </a:pPr>
            <a:r>
              <a:rPr lang="en-US" sz="2400" dirty="0">
                <a:solidFill>
                  <a:schemeClr val="accent1"/>
                </a:solidFill>
                <a:latin typeface="Geist Mono" pitchFamily="34" charset="0"/>
                <a:ea typeface="Geist Mono" pitchFamily="34" charset="-122"/>
                <a:cs typeface="Geist Mono" pitchFamily="34" charset="-120"/>
              </a:rPr>
              <a:t>›</a:t>
            </a:r>
            <a:endParaRPr lang="en-US" sz="2400" dirty="0"/>
          </a:p>
        </p:txBody>
      </p:sp>
      <p:sp>
        <p:nvSpPr>
          <p:cNvPr id="13" name="Card"/>
          <p:cNvSpPr/>
          <p:nvPr/>
        </p:nvSpPr>
        <p:spPr>
          <a:xfrm>
            <a:off x="5202936" y="2514600"/>
            <a:ext cx="1783080" cy="1554480"/>
          </a:xfrm>
          <a:prstGeom prst="roundRect">
            <a:avLst>
              <a:gd name="adj" fmla="val 4706"/>
            </a:avLst>
          </a:prstGeom>
          <a:solidFill>
            <a:schemeClr val="bg2"/>
          </a:solidFill>
          <a:ln w="12700">
            <a:solidFill>
              <a:schemeClr val="accent1"/>
            </a:solidFill>
            <a:prstDash val="solid"/>
          </a:ln>
        </p:spPr>
      </p:sp>
      <p:sp>
        <p:nvSpPr>
          <p:cNvPr id="14" name="Text 11"/>
          <p:cNvSpPr txBox="1"/>
          <p:nvPr/>
        </p:nvSpPr>
        <p:spPr>
          <a:xfrm>
            <a:off x="5385816" y="2834640"/>
            <a:ext cx="141732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NOD APP</a:t>
            </a:r>
            <a:endParaRPr lang="en-US" sz="1100" dirty="0"/>
          </a:p>
        </p:txBody>
      </p:sp>
      <p:sp>
        <p:nvSpPr>
          <p:cNvPr id="15" name="Text 12"/>
          <p:cNvSpPr txBox="1"/>
          <p:nvPr/>
        </p:nvSpPr>
        <p:spPr>
          <a:xfrm>
            <a:off x="5385816" y="3246120"/>
            <a:ext cx="1417320" cy="640080"/>
          </a:xfrm>
          <a:prstGeom prst="rect">
            <a:avLst/>
          </a:prstGeom>
          <a:noFill/>
          <a:ln/>
        </p:spPr>
        <p:txBody>
          <a:bodyPr wrap="square" lIns="0" tIns="0" rIns="0" bIns="0" rtlCol="0" anchor="t"/>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decode, simulate, approve</a:t>
            </a:r>
            <a:endParaRPr lang="en-US" sz="1400" dirty="0"/>
          </a:p>
        </p:txBody>
      </p:sp>
      <p:sp>
        <p:nvSpPr>
          <p:cNvPr id="16" name="Text 13"/>
          <p:cNvSpPr txBox="1"/>
          <p:nvPr/>
        </p:nvSpPr>
        <p:spPr>
          <a:xfrm>
            <a:off x="6986016" y="2926080"/>
            <a:ext cx="361188" cy="548640"/>
          </a:xfrm>
          <a:prstGeom prst="rect">
            <a:avLst/>
          </a:prstGeom>
          <a:noFill/>
          <a:ln/>
        </p:spPr>
        <p:txBody>
          <a:bodyPr wrap="square" lIns="0" tIns="0" rIns="0" bIns="0" rtlCol="0" anchor="ctr"/>
          <a:lstStyle/>
          <a:p>
            <a:pPr algn="ctr" indent="0" marL="0">
              <a:buNone/>
            </a:pPr>
            <a:r>
              <a:rPr lang="en-US" sz="2400" dirty="0">
                <a:solidFill>
                  <a:schemeClr val="accent1"/>
                </a:solidFill>
                <a:latin typeface="Geist Mono" pitchFamily="34" charset="0"/>
                <a:ea typeface="Geist Mono" pitchFamily="34" charset="-122"/>
                <a:cs typeface="Geist Mono" pitchFamily="34" charset="-120"/>
              </a:rPr>
              <a:t>›</a:t>
            </a:r>
            <a:endParaRPr lang="en-US" sz="2400" dirty="0"/>
          </a:p>
        </p:txBody>
      </p:sp>
      <p:sp>
        <p:nvSpPr>
          <p:cNvPr id="17" name="Card"/>
          <p:cNvSpPr/>
          <p:nvPr/>
        </p:nvSpPr>
        <p:spPr>
          <a:xfrm>
            <a:off x="7347204" y="2514600"/>
            <a:ext cx="1783080" cy="1554480"/>
          </a:xfrm>
          <a:prstGeom prst="roundRect">
            <a:avLst>
              <a:gd name="adj" fmla="val 4706"/>
            </a:avLst>
          </a:prstGeom>
          <a:solidFill>
            <a:schemeClr val="bg2"/>
          </a:solidFill>
          <a:ln w="12700">
            <a:solidFill>
              <a:schemeClr val="accent6"/>
            </a:solidFill>
            <a:prstDash val="solid"/>
          </a:ln>
        </p:spPr>
      </p:sp>
      <p:sp>
        <p:nvSpPr>
          <p:cNvPr id="18" name="Text 15"/>
          <p:cNvSpPr txBox="1"/>
          <p:nvPr/>
        </p:nvSpPr>
        <p:spPr>
          <a:xfrm>
            <a:off x="7530084" y="2834640"/>
            <a:ext cx="141732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WALLET</a:t>
            </a:r>
            <a:endParaRPr lang="en-US" sz="1100" dirty="0"/>
          </a:p>
        </p:txBody>
      </p:sp>
      <p:sp>
        <p:nvSpPr>
          <p:cNvPr id="19" name="Text 16"/>
          <p:cNvSpPr txBox="1"/>
          <p:nvPr/>
        </p:nvSpPr>
        <p:spPr>
          <a:xfrm>
            <a:off x="7530084" y="3246120"/>
            <a:ext cx="1417320" cy="640080"/>
          </a:xfrm>
          <a:prstGeom prst="rect">
            <a:avLst/>
          </a:prstGeom>
          <a:noFill/>
          <a:ln/>
        </p:spPr>
        <p:txBody>
          <a:bodyPr wrap="square" lIns="0" tIns="0" rIns="0" bIns="0" rtlCol="0" anchor="t"/>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MWA or Seed Vault</a:t>
            </a:r>
            <a:endParaRPr lang="en-US" sz="1400" dirty="0"/>
          </a:p>
        </p:txBody>
      </p:sp>
      <p:sp>
        <p:nvSpPr>
          <p:cNvPr id="20" name="Text 17"/>
          <p:cNvSpPr txBox="1"/>
          <p:nvPr/>
        </p:nvSpPr>
        <p:spPr>
          <a:xfrm>
            <a:off x="9130284" y="2926080"/>
            <a:ext cx="361188" cy="548640"/>
          </a:xfrm>
          <a:prstGeom prst="rect">
            <a:avLst/>
          </a:prstGeom>
          <a:noFill/>
          <a:ln/>
        </p:spPr>
        <p:txBody>
          <a:bodyPr wrap="square" lIns="0" tIns="0" rIns="0" bIns="0" rtlCol="0" anchor="ctr"/>
          <a:lstStyle/>
          <a:p>
            <a:pPr algn="ctr" indent="0" marL="0">
              <a:buNone/>
            </a:pPr>
            <a:r>
              <a:rPr lang="en-US" sz="2400" dirty="0">
                <a:solidFill>
                  <a:schemeClr val="accent1"/>
                </a:solidFill>
                <a:latin typeface="Geist Mono" pitchFamily="34" charset="0"/>
                <a:ea typeface="Geist Mono" pitchFamily="34" charset="-122"/>
                <a:cs typeface="Geist Mono" pitchFamily="34" charset="-120"/>
              </a:rPr>
              <a:t>›</a:t>
            </a:r>
            <a:endParaRPr lang="en-US" sz="2400" dirty="0"/>
          </a:p>
        </p:txBody>
      </p:sp>
      <p:sp>
        <p:nvSpPr>
          <p:cNvPr id="21" name="Card"/>
          <p:cNvSpPr/>
          <p:nvPr/>
        </p:nvSpPr>
        <p:spPr>
          <a:xfrm>
            <a:off x="9491472" y="2514600"/>
            <a:ext cx="1783080" cy="1554480"/>
          </a:xfrm>
          <a:prstGeom prst="roundRect">
            <a:avLst>
              <a:gd name="adj" fmla="val 4706"/>
            </a:avLst>
          </a:prstGeom>
          <a:solidFill>
            <a:schemeClr val="bg2"/>
          </a:solidFill>
          <a:ln w="12700">
            <a:solidFill>
              <a:schemeClr val="accent6"/>
            </a:solidFill>
            <a:prstDash val="solid"/>
          </a:ln>
        </p:spPr>
      </p:sp>
      <p:sp>
        <p:nvSpPr>
          <p:cNvPr id="22" name="Text 19"/>
          <p:cNvSpPr txBox="1"/>
          <p:nvPr/>
        </p:nvSpPr>
        <p:spPr>
          <a:xfrm>
            <a:off x="9674352" y="2834640"/>
            <a:ext cx="141732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SOLANA</a:t>
            </a:r>
            <a:endParaRPr lang="en-US" sz="1100" dirty="0"/>
          </a:p>
        </p:txBody>
      </p:sp>
      <p:sp>
        <p:nvSpPr>
          <p:cNvPr id="23" name="Text 20"/>
          <p:cNvSpPr txBox="1"/>
          <p:nvPr/>
        </p:nvSpPr>
        <p:spPr>
          <a:xfrm>
            <a:off x="9674352" y="3246120"/>
            <a:ext cx="1417320" cy="640080"/>
          </a:xfrm>
          <a:prstGeom prst="rect">
            <a:avLst/>
          </a:prstGeom>
          <a:noFill/>
          <a:ln/>
        </p:spPr>
        <p:txBody>
          <a:bodyPr wrap="square" lIns="0" tIns="0" rIns="0" bIns="0" rtlCol="0" anchor="t"/>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RPC, programs</a:t>
            </a:r>
            <a:endParaRPr lang="en-US" sz="1400" dirty="0"/>
          </a:p>
        </p:txBody>
      </p:sp>
      <p:sp>
        <p:nvSpPr>
          <p:cNvPr id="24" name="Text 21"/>
          <p:cNvSpPr txBox="1"/>
          <p:nvPr/>
        </p:nvSpPr>
        <p:spPr>
          <a:xfrm>
            <a:off x="3058668" y="4297680"/>
            <a:ext cx="1783080" cy="6400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Never holds a key</a:t>
            </a:r>
            <a:endParaRPr lang="en-US" sz="1400" dirty="0"/>
          </a:p>
        </p:txBody>
      </p:sp>
      <p:sp>
        <p:nvSpPr>
          <p:cNvPr id="25" name="Text 22"/>
          <p:cNvSpPr txBox="1"/>
          <p:nvPr/>
        </p:nvSpPr>
        <p:spPr>
          <a:xfrm>
            <a:off x="5202936" y="4297680"/>
            <a:ext cx="1783080" cy="6400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Verifies what it signs</a:t>
            </a:r>
            <a:endParaRPr lang="en-US" sz="1400" dirty="0"/>
          </a:p>
        </p:txBody>
      </p:sp>
      <p:sp>
        <p:nvSpPr>
          <p:cNvPr id="26" name="Text 23"/>
          <p:cNvSpPr txBox="1"/>
          <p:nvPr/>
        </p:nvSpPr>
        <p:spPr>
          <a:xfrm>
            <a:off x="7347204" y="4297680"/>
            <a:ext cx="1783080" cy="640080"/>
          </a:xfrm>
          <a:prstGeom prst="rect">
            <a:avLst/>
          </a:prstGeom>
          <a:noFill/>
          <a:ln/>
        </p:spPr>
        <p:txBody>
          <a:bodyPr wrap="square" lIns="0" tIns="0" rIns="0" bIns="0" rtlCol="0" anchor="t"/>
          <a:lstStyle/>
          <a:p>
            <a:pPr indent="0" marL="0">
              <a:buNone/>
            </a:pPr>
            <a:r>
              <a:rPr lang="en-US" sz="1400" dirty="0">
                <a:solidFill>
                  <a:schemeClr val="tx2"/>
                </a:solidFill>
                <a:latin typeface="Plus Jakarta Sans" pitchFamily="34" charset="0"/>
                <a:ea typeface="Plus Jakarta Sans" pitchFamily="34" charset="-122"/>
                <a:cs typeface="Plus Jakarta Sans" pitchFamily="34" charset="-120"/>
              </a:rPr>
              <a:t>Keys stay here</a:t>
            </a:r>
            <a:endParaRPr lang="en-US" sz="1400" dirty="0"/>
          </a:p>
        </p:txBody>
      </p:sp>
      <p:sp>
        <p:nvSpPr>
          <p:cNvPr id="27" name="Text 24"/>
          <p:cNvSpPr txBox="1"/>
          <p:nvPr/>
        </p:nvSpPr>
        <p:spPr>
          <a:xfrm>
            <a:off x="914400" y="5257800"/>
            <a:ext cx="10360152" cy="822960"/>
          </a:xfrm>
          <a:prstGeom prst="rect">
            <a:avLst/>
          </a:prstGeom>
          <a:noFill/>
          <a:ln/>
        </p:spPr>
        <p:txBody>
          <a:bodyPr wrap="square" lIns="0" tIns="0" rIns="0" bIns="0" rtlCol="0" anchor="t"/>
          <a:lstStyle/>
          <a:p>
            <a:pPr indent="0" marL="0">
              <a:buNone/>
            </a:pPr>
            <a:r>
              <a:rPr lang="en-US" sz="2000" dirty="0">
                <a:solidFill>
                  <a:schemeClr val="tx1"/>
                </a:solidFill>
                <a:latin typeface="Plus Jakarta Sans" pitchFamily="34" charset="0"/>
                <a:ea typeface="Plus Jakarta Sans" pitchFamily="34" charset="-122"/>
                <a:cs typeface="Plus Jakarta Sans" pitchFamily="34" charset="-120"/>
              </a:rPr>
              <a:t>The backend is a messenger and a policy gate, never the source of truth.</a:t>
            </a:r>
            <a:endParaRPr lang="en-US" sz="20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08 · OPEN SOURCE</a:t>
            </a:r>
            <a:endParaRPr lang="en-US" sz="1100" dirty="0"/>
          </a:p>
        </p:txBody>
      </p:sp>
      <p:sp>
        <p:nvSpPr>
          <p:cNvPr id="4" name="Title"/>
          <p:cNvSpPr txBox="1"/>
          <p:nvPr/>
        </p:nvSpPr>
        <p:spPr>
          <a:xfrm>
            <a:off x="914400" y="960120"/>
            <a:ext cx="566928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Open, and yours to run.</a:t>
            </a:r>
            <a:endParaRPr lang="en-US" sz="3400" dirty="0"/>
          </a:p>
        </p:txBody>
      </p:sp>
      <p:sp>
        <p:nvSpPr>
          <p:cNvPr id="5" name="Text 2"/>
          <p:cNvSpPr txBox="1"/>
          <p:nvPr/>
        </p:nvSpPr>
        <p:spPr>
          <a:xfrm>
            <a:off x="914400" y="2377440"/>
            <a:ext cx="493776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npx nod-server: your own backend in one command</a:t>
            </a:r>
            <a:endParaRPr lang="en-US" sz="1600" dirty="0"/>
          </a:p>
          <a:p>
            <a:pPr marL="342900" indent="-342900">
              <a:spcAft>
                <a:spcPts val="1000"/>
              </a:spcAft>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--tunnel for a public https address</a:t>
            </a:r>
            <a:endParaRPr lang="en-US" sz="1600" dirty="0"/>
          </a:p>
          <a:p>
            <a:pPr marL="342900" indent="-342900">
              <a:spcAft>
                <a:spcPts val="1000"/>
              </a:spcAft>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SDK, OpenAPI spec and a conformance suite</a:t>
            </a:r>
            <a:endParaRPr lang="en-US" sz="1600" dirty="0"/>
          </a:p>
          <a:p>
            <a:pPr marL="342900" indent="-342900">
              <a:buSzPct val="100000"/>
              <a:buChar char="•"/>
            </a:pPr>
            <a:r>
              <a:rPr lang="en-US" sz="1600" dirty="0">
                <a:solidFill>
                  <a:schemeClr val="tx2"/>
                </a:solidFill>
                <a:latin typeface="Plus Jakarta Sans" pitchFamily="34" charset="0"/>
                <a:ea typeface="Plus Jakarta Sans" pitchFamily="34" charset="-122"/>
                <a:cs typeface="Plus Jakarta Sans" pitchFamily="34" charset="-120"/>
              </a:rPr>
              <a:t>Docker image, MIT licensed</a:t>
            </a:r>
            <a:endParaRPr lang="en-US" sz="1600" dirty="0"/>
          </a:p>
        </p:txBody>
      </p:sp>
      <p:sp>
        <p:nvSpPr>
          <p:cNvPr id="6" name="Code card"/>
          <p:cNvSpPr/>
          <p:nvPr/>
        </p:nvSpPr>
        <p:spPr>
          <a:xfrm>
            <a:off x="6400800" y="2011680"/>
            <a:ext cx="4873752" cy="3749040"/>
          </a:xfrm>
          <a:prstGeom prst="roundRect">
            <a:avLst>
              <a:gd name="adj" fmla="val 1951"/>
            </a:avLst>
          </a:prstGeom>
          <a:solidFill>
            <a:schemeClr val="bg2"/>
          </a:solidFill>
          <a:ln w="12700">
            <a:solidFill>
              <a:schemeClr val="accent6"/>
            </a:solidFill>
            <a:prstDash val="solid"/>
          </a:ln>
        </p:spPr>
      </p:sp>
      <p:sp>
        <p:nvSpPr>
          <p:cNvPr id="7" name="Text 4"/>
          <p:cNvSpPr txBox="1"/>
          <p:nvPr/>
        </p:nvSpPr>
        <p:spPr>
          <a:xfrm>
            <a:off x="6675120" y="2194560"/>
            <a:ext cx="2743200" cy="274320"/>
          </a:xfrm>
          <a:prstGeom prst="rect">
            <a:avLst/>
          </a:prstGeom>
          <a:noFill/>
          <a:ln/>
        </p:spPr>
        <p:txBody>
          <a:bodyPr wrap="square" lIns="0" tIns="0" rIns="0" bIns="0" rtlCol="0" anchor="ctr"/>
          <a:lstStyle/>
          <a:p>
            <a:pPr indent="0" marL="0">
              <a:buNone/>
            </a:pPr>
            <a:r>
              <a:rPr lang="en-US" sz="1000" dirty="0">
                <a:solidFill>
                  <a:schemeClr val="tx2"/>
                </a:solidFill>
                <a:latin typeface="Geist Mono" pitchFamily="34" charset="0"/>
                <a:ea typeface="Geist Mono" pitchFamily="34" charset="-122"/>
                <a:cs typeface="Geist Mono" pitchFamily="34" charset="-120"/>
              </a:rPr>
              <a:t>agent.ts</a:t>
            </a:r>
            <a:endParaRPr lang="en-US" sz="1000" dirty="0"/>
          </a:p>
        </p:txBody>
      </p:sp>
      <p:sp>
        <p:nvSpPr>
          <p:cNvPr id="8" name="Text 5"/>
          <p:cNvSpPr txBox="1"/>
          <p:nvPr/>
        </p:nvSpPr>
        <p:spPr>
          <a:xfrm>
            <a:off x="6675120" y="2606040"/>
            <a:ext cx="4389120" cy="2926080"/>
          </a:xfrm>
          <a:prstGeom prst="rect">
            <a:avLst/>
          </a:prstGeom>
          <a:noFill/>
          <a:ln/>
        </p:spPr>
        <p:txBody>
          <a:bodyPr wrap="square" lIns="0" tIns="0" rIns="0" bIns="0" rtlCol="0" anchor="t"/>
          <a:lstStyle/>
          <a:p>
            <a:pPr indent="0" marL="0">
              <a:spcAft>
                <a:spcPts val="200"/>
              </a:spcAft>
              <a:buNone/>
            </a:pPr>
            <a:r>
              <a:rPr lang="en-US" sz="1300" dirty="0">
                <a:solidFill>
                  <a:schemeClr val="tx2"/>
                </a:solidFill>
                <a:latin typeface="Geist Mono" pitchFamily="34" charset="0"/>
                <a:ea typeface="Geist Mono" pitchFamily="34" charset="-122"/>
                <a:cs typeface="Geist Mono" pitchFamily="34" charset="-120"/>
              </a:rPr>
              <a:t># run your backend</a:t>
            </a:r>
            <a:endParaRPr lang="en-US" sz="1300" dirty="0"/>
          </a:p>
          <a:p>
            <a:pPr indent="0" marL="0">
              <a:spcAft>
                <a:spcPts val="200"/>
              </a:spcAft>
              <a:buNone/>
            </a:pPr>
            <a:r>
              <a:rPr lang="en-US" sz="1300" dirty="0">
                <a:solidFill>
                  <a:schemeClr val="tx1"/>
                </a:solidFill>
                <a:latin typeface="Geist Mono" pitchFamily="34" charset="0"/>
                <a:ea typeface="Geist Mono" pitchFamily="34" charset="-122"/>
                <a:cs typeface="Geist Mono" pitchFamily="34" charset="-120"/>
              </a:rPr>
              <a:t>npx nod-server --tunnel</a:t>
            </a:r>
            <a:endParaRPr lang="en-US" sz="1300" dirty="0"/>
          </a:p>
          <a:p>
            <a:pPr indent="0" marL="0">
              <a:spcAft>
                <a:spcPts val="200"/>
              </a:spcAft>
              <a:buNone/>
            </a:pPr>
            <a:r>
              <a:rPr lang="en-US" sz="1300" dirty="0">
                <a:solidFill>
                  <a:schemeClr val="tx1"/>
                </a:solidFill>
                <a:latin typeface="Geist Mono" pitchFamily="34" charset="0"/>
                <a:ea typeface="Geist Mono" pitchFamily="34" charset="-122"/>
                <a:cs typeface="Geist Mono" pitchFamily="34" charset="-120"/>
              </a:rPr>
              <a:t> </a:t>
            </a:r>
            <a:endParaRPr lang="en-US" sz="1300" dirty="0"/>
          </a:p>
          <a:p>
            <a:pPr indent="0" marL="0">
              <a:spcAft>
                <a:spcPts val="200"/>
              </a:spcAft>
              <a:buNone/>
            </a:pPr>
            <a:r>
              <a:rPr lang="en-US" sz="1300" dirty="0">
                <a:solidFill>
                  <a:schemeClr val="tx2"/>
                </a:solidFill>
                <a:latin typeface="Geist Mono" pitchFamily="34" charset="0"/>
                <a:ea typeface="Geist Mono" pitchFamily="34" charset="-122"/>
                <a:cs typeface="Geist Mono" pitchFamily="34" charset="-120"/>
              </a:rPr>
              <a:t>// propose from your agent</a:t>
            </a:r>
            <a:endParaRPr lang="en-US" sz="1300" dirty="0"/>
          </a:p>
          <a:p>
            <a:pPr indent="0" marL="0">
              <a:spcAft>
                <a:spcPts val="200"/>
              </a:spcAft>
              <a:buNone/>
            </a:pPr>
            <a:r>
              <a:rPr lang="en-US" sz="1300" dirty="0">
                <a:solidFill>
                  <a:schemeClr val="tx1"/>
                </a:solidFill>
                <a:latin typeface="Geist Mono" pitchFamily="34" charset="0"/>
                <a:ea typeface="Geist Mono" pitchFamily="34" charset="-122"/>
                <a:cs typeface="Geist Mono" pitchFamily="34" charset="-120"/>
              </a:rPr>
              <a:t>const result = await nod</a:t>
            </a:r>
            <a:endParaRPr lang="en-US" sz="1300" dirty="0"/>
          </a:p>
          <a:p>
            <a:pPr indent="0" marL="0">
              <a:spcAft>
                <a:spcPts val="200"/>
              </a:spcAft>
              <a:buNone/>
            </a:pPr>
            <a:r>
              <a:rPr lang="en-US" sz="1300" dirty="0">
                <a:solidFill>
                  <a:schemeClr val="tx1"/>
                </a:solidFill>
                <a:latin typeface="Geist Mono" pitchFamily="34" charset="0"/>
                <a:ea typeface="Geist Mono" pitchFamily="34" charset="-122"/>
                <a:cs typeface="Geist Mono" pitchFamily="34" charset="-120"/>
              </a:rPr>
              <a:t>  .proposeAndWait({</a:t>
            </a:r>
            <a:endParaRPr lang="en-US" sz="1300" dirty="0"/>
          </a:p>
          <a:p>
            <a:pPr indent="0" marL="0">
              <a:spcAft>
                <a:spcPts val="200"/>
              </a:spcAft>
              <a:buNone/>
            </a:pPr>
            <a:r>
              <a:rPr lang="en-US" sz="1300" dirty="0">
                <a:solidFill>
                  <a:schemeClr val="tx1"/>
                </a:solidFill>
                <a:latin typeface="Geist Mono" pitchFamily="34" charset="0"/>
                <a:ea typeface="Geist Mono" pitchFamily="34" charset="-122"/>
                <a:cs typeface="Geist Mono" pitchFamily="34" charset="-120"/>
              </a:rPr>
              <a:t>    ...built,</a:t>
            </a:r>
            <a:endParaRPr lang="en-US" sz="1300" dirty="0"/>
          </a:p>
          <a:p>
            <a:pPr indent="0" marL="0">
              <a:spcAft>
                <a:spcPts val="200"/>
              </a:spcAft>
              <a:buNone/>
            </a:pPr>
            <a:r>
              <a:rPr lang="en-US" sz="1300" dirty="0">
                <a:solidFill>
                  <a:schemeClr val="accent2"/>
                </a:solidFill>
                <a:latin typeface="Geist Mono" pitchFamily="34" charset="0"/>
                <a:ea typeface="Geist Mono" pitchFamily="34" charset="-122"/>
                <a:cs typeface="Geist Mono" pitchFamily="34" charset="-120"/>
              </a:rPr>
              <a:t>    reason: "Weather API credits",</a:t>
            </a:r>
            <a:endParaRPr lang="en-US" sz="1300" dirty="0"/>
          </a:p>
          <a:p>
            <a:pPr indent="0" marL="0">
              <a:spcAft>
                <a:spcPts val="200"/>
              </a:spcAft>
              <a:buNone/>
            </a:pPr>
            <a:r>
              <a:rPr lang="en-US" sz="1300" dirty="0">
                <a:solidFill>
                  <a:schemeClr val="tx1"/>
                </a:solidFill>
                <a:latin typeface="Geist Mono" pitchFamily="34" charset="0"/>
                <a:ea typeface="Geist Mono" pitchFamily="34" charset="-122"/>
                <a:cs typeface="Geist Mono" pitchFamily="34" charset="-120"/>
              </a:rPr>
              <a:t>  });</a:t>
            </a:r>
            <a:endParaRPr lang="en-US" sz="1300" dirty="0"/>
          </a:p>
          <a:p>
            <a:pPr indent="0" marL="0">
              <a:spcAft>
                <a:spcPts val="200"/>
              </a:spcAft>
              <a:buNone/>
            </a:pPr>
            <a:r>
              <a:rPr lang="en-US" sz="1300" dirty="0">
                <a:solidFill>
                  <a:schemeClr val="accent1"/>
                </a:solidFill>
                <a:latin typeface="Geist Mono" pitchFamily="34" charset="0"/>
                <a:ea typeface="Geist Mono" pitchFamily="34" charset="-122"/>
                <a:cs typeface="Geist Mono" pitchFamily="34" charset="-120"/>
              </a:rPr>
              <a:t>if (isConfirmed(result))</a:t>
            </a:r>
            <a:endParaRPr lang="en-US" sz="1300" dirty="0"/>
          </a:p>
          <a:p>
            <a:pPr indent="0" marL="0">
              <a:spcAft>
                <a:spcPts val="200"/>
              </a:spcAft>
              <a:buNone/>
            </a:pPr>
            <a:r>
              <a:rPr lang="en-US" sz="1300" dirty="0">
                <a:solidFill>
                  <a:schemeClr val="tx1"/>
                </a:solidFill>
                <a:latin typeface="Geist Mono" pitchFamily="34" charset="0"/>
                <a:ea typeface="Geist Mono" pitchFamily="34" charset="-122"/>
                <a:cs typeface="Geist Mono" pitchFamily="34" charset="-120"/>
              </a:rPr>
              <a:t>  console.log(result.signature);</a:t>
            </a:r>
            <a:endParaRPr lang="en-US" sz="13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09 · STATUS</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Working on a real phone, and honest about the rest.</a:t>
            </a:r>
            <a:endParaRPr lang="en-US" sz="3400" dirty="0"/>
          </a:p>
        </p:txBody>
      </p:sp>
      <p:sp>
        <p:nvSpPr>
          <p:cNvPr id="5" name="Card"/>
          <p:cNvSpPr/>
          <p:nvPr/>
        </p:nvSpPr>
        <p:spPr>
          <a:xfrm>
            <a:off x="914400" y="2468880"/>
            <a:ext cx="5029200" cy="2697480"/>
          </a:xfrm>
          <a:prstGeom prst="roundRect">
            <a:avLst>
              <a:gd name="adj" fmla="val 2712"/>
            </a:avLst>
          </a:prstGeom>
          <a:solidFill>
            <a:schemeClr val="bg2"/>
          </a:solidFill>
          <a:ln w="12700">
            <a:solidFill>
              <a:schemeClr val="accent6"/>
            </a:solidFill>
            <a:prstDash val="solid"/>
          </a:ln>
        </p:spPr>
      </p:sp>
      <p:sp>
        <p:nvSpPr>
          <p:cNvPr id="6" name="Text 3"/>
          <p:cNvSpPr txBox="1"/>
          <p:nvPr/>
        </p:nvSpPr>
        <p:spPr>
          <a:xfrm>
            <a:off x="1234440" y="2697480"/>
            <a:ext cx="438912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CONFIRMED ON DEVICE</a:t>
            </a:r>
            <a:endParaRPr lang="en-US" sz="1100" dirty="0"/>
          </a:p>
        </p:txBody>
      </p:sp>
      <p:sp>
        <p:nvSpPr>
          <p:cNvPr id="7" name="Shape 4"/>
          <p:cNvSpPr/>
          <p:nvPr/>
        </p:nvSpPr>
        <p:spPr>
          <a:xfrm>
            <a:off x="1234440" y="3273552"/>
            <a:ext cx="118872" cy="118872"/>
          </a:xfrm>
          <a:prstGeom prst="ellipse">
            <a:avLst/>
          </a:prstGeom>
          <a:solidFill>
            <a:schemeClr val="accent2"/>
          </a:solidFill>
          <a:ln w="12700">
            <a:solidFill>
              <a:schemeClr val="accent2"/>
            </a:solidFill>
            <a:prstDash val="solid"/>
          </a:ln>
        </p:spPr>
      </p:sp>
      <p:sp>
        <p:nvSpPr>
          <p:cNvPr id="8" name="Text 5"/>
          <p:cNvSpPr txBox="1"/>
          <p:nvPr/>
        </p:nvSpPr>
        <p:spPr>
          <a:xfrm>
            <a:off x="1508760" y="3154680"/>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Mobile Wallet Adapter authorize and sign</a:t>
            </a:r>
            <a:endParaRPr lang="en-US" sz="1400" dirty="0"/>
          </a:p>
        </p:txBody>
      </p:sp>
      <p:sp>
        <p:nvSpPr>
          <p:cNvPr id="9" name="Shape 6"/>
          <p:cNvSpPr/>
          <p:nvPr/>
        </p:nvSpPr>
        <p:spPr>
          <a:xfrm>
            <a:off x="1234440" y="3749040"/>
            <a:ext cx="118872" cy="118872"/>
          </a:xfrm>
          <a:prstGeom prst="ellipse">
            <a:avLst/>
          </a:prstGeom>
          <a:solidFill>
            <a:schemeClr val="accent2"/>
          </a:solidFill>
          <a:ln w="12700">
            <a:solidFill>
              <a:schemeClr val="accent2"/>
            </a:solidFill>
            <a:prstDash val="solid"/>
          </a:ln>
        </p:spPr>
      </p:sp>
      <p:sp>
        <p:nvSpPr>
          <p:cNvPr id="10" name="Text 7"/>
          <p:cNvSpPr txBox="1"/>
          <p:nvPr/>
        </p:nvSpPr>
        <p:spPr>
          <a:xfrm>
            <a:off x="1508760" y="3630168"/>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Push notification on the lock screen</a:t>
            </a:r>
            <a:endParaRPr lang="en-US" sz="1400" dirty="0"/>
          </a:p>
        </p:txBody>
      </p:sp>
      <p:sp>
        <p:nvSpPr>
          <p:cNvPr id="11" name="Shape 8"/>
          <p:cNvSpPr/>
          <p:nvPr/>
        </p:nvSpPr>
        <p:spPr>
          <a:xfrm>
            <a:off x="1234440" y="4224528"/>
            <a:ext cx="118872" cy="118872"/>
          </a:xfrm>
          <a:prstGeom prst="ellipse">
            <a:avLst/>
          </a:prstGeom>
          <a:solidFill>
            <a:schemeClr val="accent2"/>
          </a:solidFill>
          <a:ln w="12700">
            <a:solidFill>
              <a:schemeClr val="accent2"/>
            </a:solidFill>
            <a:prstDash val="solid"/>
          </a:ln>
        </p:spPr>
      </p:sp>
      <p:sp>
        <p:nvSpPr>
          <p:cNvPr id="12" name="Text 9"/>
          <p:cNvSpPr txBox="1"/>
          <p:nvPr/>
        </p:nvSpPr>
        <p:spPr>
          <a:xfrm>
            <a:off x="1508760" y="4105656"/>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Local decode and simulation with balance changes</a:t>
            </a:r>
            <a:endParaRPr lang="en-US" sz="1400" dirty="0"/>
          </a:p>
        </p:txBody>
      </p:sp>
      <p:sp>
        <p:nvSpPr>
          <p:cNvPr id="13" name="Shape 10"/>
          <p:cNvSpPr/>
          <p:nvPr/>
        </p:nvSpPr>
        <p:spPr>
          <a:xfrm>
            <a:off x="1234440" y="4700016"/>
            <a:ext cx="118872" cy="118872"/>
          </a:xfrm>
          <a:prstGeom prst="ellipse">
            <a:avLst/>
          </a:prstGeom>
          <a:solidFill>
            <a:schemeClr val="accent2"/>
          </a:solidFill>
          <a:ln w="12700">
            <a:solidFill>
              <a:schemeClr val="accent2"/>
            </a:solidFill>
            <a:prstDash val="solid"/>
          </a:ln>
        </p:spPr>
      </p:sp>
      <p:sp>
        <p:nvSpPr>
          <p:cNvPr id="14" name="Text 11"/>
          <p:cNvSpPr txBox="1"/>
          <p:nvPr/>
        </p:nvSpPr>
        <p:spPr>
          <a:xfrm>
            <a:off x="1508760" y="4581144"/>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Biometric gate with screen-lock fallback</a:t>
            </a:r>
            <a:endParaRPr lang="en-US" sz="1400" dirty="0"/>
          </a:p>
        </p:txBody>
      </p:sp>
      <p:sp>
        <p:nvSpPr>
          <p:cNvPr id="15" name="Card"/>
          <p:cNvSpPr/>
          <p:nvPr/>
        </p:nvSpPr>
        <p:spPr>
          <a:xfrm>
            <a:off x="6245352" y="2468880"/>
            <a:ext cx="5029200" cy="2697480"/>
          </a:xfrm>
          <a:prstGeom prst="roundRect">
            <a:avLst>
              <a:gd name="adj" fmla="val 2712"/>
            </a:avLst>
          </a:prstGeom>
          <a:solidFill>
            <a:schemeClr val="bg2"/>
          </a:solidFill>
          <a:ln w="12700">
            <a:solidFill>
              <a:schemeClr val="accent6"/>
            </a:solidFill>
            <a:prstDash val="solid"/>
          </a:ln>
        </p:spPr>
      </p:sp>
      <p:sp>
        <p:nvSpPr>
          <p:cNvPr id="16" name="Text 13"/>
          <p:cNvSpPr txBox="1"/>
          <p:nvPr/>
        </p:nvSpPr>
        <p:spPr>
          <a:xfrm>
            <a:off x="6565392" y="2697480"/>
            <a:ext cx="438912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ALSO VERIFIED</a:t>
            </a:r>
            <a:endParaRPr lang="en-US" sz="1100" dirty="0"/>
          </a:p>
        </p:txBody>
      </p:sp>
      <p:sp>
        <p:nvSpPr>
          <p:cNvPr id="17" name="Shape 14"/>
          <p:cNvSpPr/>
          <p:nvPr/>
        </p:nvSpPr>
        <p:spPr>
          <a:xfrm>
            <a:off x="6565392" y="3273552"/>
            <a:ext cx="118872" cy="118872"/>
          </a:xfrm>
          <a:prstGeom prst="ellipse">
            <a:avLst/>
          </a:prstGeom>
          <a:solidFill>
            <a:schemeClr val="accent2"/>
          </a:solidFill>
          <a:ln w="12700">
            <a:solidFill>
              <a:schemeClr val="accent2"/>
            </a:solidFill>
            <a:prstDash val="solid"/>
          </a:ln>
        </p:spPr>
      </p:sp>
      <p:sp>
        <p:nvSpPr>
          <p:cNvPr id="18" name="Text 15"/>
          <p:cNvSpPr txBox="1"/>
          <p:nvPr/>
        </p:nvSpPr>
        <p:spPr>
          <a:xfrm>
            <a:off x="6839712" y="3154680"/>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Approval flow end to end</a:t>
            </a:r>
            <a:endParaRPr lang="en-US" sz="1400" dirty="0"/>
          </a:p>
        </p:txBody>
      </p:sp>
      <p:sp>
        <p:nvSpPr>
          <p:cNvPr id="19" name="Shape 16"/>
          <p:cNvSpPr/>
          <p:nvPr/>
        </p:nvSpPr>
        <p:spPr>
          <a:xfrm>
            <a:off x="6565392" y="3749040"/>
            <a:ext cx="118872" cy="118872"/>
          </a:xfrm>
          <a:prstGeom prst="ellipse">
            <a:avLst/>
          </a:prstGeom>
          <a:solidFill>
            <a:schemeClr val="accent2"/>
          </a:solidFill>
          <a:ln w="12700">
            <a:solidFill>
              <a:schemeClr val="accent2"/>
            </a:solidFill>
            <a:prstDash val="solid"/>
          </a:ln>
        </p:spPr>
      </p:sp>
      <p:sp>
        <p:nvSpPr>
          <p:cNvPr id="20" name="Text 17"/>
          <p:cNvSpPr txBox="1"/>
          <p:nvPr/>
        </p:nvSpPr>
        <p:spPr>
          <a:xfrm>
            <a:off x="6839712" y="3630168"/>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Tamper demos: blocked programs, delegate, swapped transaction</a:t>
            </a:r>
            <a:endParaRPr lang="en-US" sz="1400" dirty="0"/>
          </a:p>
        </p:txBody>
      </p:sp>
      <p:sp>
        <p:nvSpPr>
          <p:cNvPr id="21" name="Shape 18"/>
          <p:cNvSpPr/>
          <p:nvPr/>
        </p:nvSpPr>
        <p:spPr>
          <a:xfrm>
            <a:off x="6565392" y="4224528"/>
            <a:ext cx="118872" cy="118872"/>
          </a:xfrm>
          <a:prstGeom prst="ellipse">
            <a:avLst/>
          </a:prstGeom>
          <a:solidFill>
            <a:schemeClr val="accent2"/>
          </a:solidFill>
          <a:ln w="12700">
            <a:solidFill>
              <a:schemeClr val="accent2"/>
            </a:solidFill>
            <a:prstDash val="solid"/>
          </a:ln>
        </p:spPr>
      </p:sp>
      <p:sp>
        <p:nvSpPr>
          <p:cNvPr id="22" name="Text 19"/>
          <p:cNvSpPr txBox="1"/>
          <p:nvPr/>
        </p:nvSpPr>
        <p:spPr>
          <a:xfrm>
            <a:off x="6839712" y="4105656"/>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Activity feed with filters</a:t>
            </a:r>
            <a:endParaRPr lang="en-US" sz="1400" dirty="0"/>
          </a:p>
        </p:txBody>
      </p:sp>
      <p:sp>
        <p:nvSpPr>
          <p:cNvPr id="23" name="Shape 20"/>
          <p:cNvSpPr/>
          <p:nvPr/>
        </p:nvSpPr>
        <p:spPr>
          <a:xfrm>
            <a:off x="6565392" y="4700016"/>
            <a:ext cx="118872" cy="118872"/>
          </a:xfrm>
          <a:prstGeom prst="ellipse">
            <a:avLst/>
          </a:prstGeom>
          <a:solidFill>
            <a:schemeClr val="accent2"/>
          </a:solidFill>
          <a:ln w="12700">
            <a:solidFill>
              <a:schemeClr val="accent2"/>
            </a:solidFill>
            <a:prstDash val="solid"/>
          </a:ln>
        </p:spPr>
      </p:sp>
      <p:sp>
        <p:nvSpPr>
          <p:cNvPr id="24" name="Text 21"/>
          <p:cNvSpPr txBox="1"/>
          <p:nvPr/>
        </p:nvSpPr>
        <p:spPr>
          <a:xfrm>
            <a:off x="6839712" y="4581144"/>
            <a:ext cx="4114800" cy="41148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Demo agent proposing against devnet</a:t>
            </a:r>
            <a:endParaRPr lang="en-US" sz="1400" dirty="0"/>
          </a:p>
        </p:txBody>
      </p:sp>
      <p:sp>
        <p:nvSpPr>
          <p:cNvPr id="25" name="Card"/>
          <p:cNvSpPr/>
          <p:nvPr/>
        </p:nvSpPr>
        <p:spPr>
          <a:xfrm>
            <a:off x="914400" y="5394960"/>
            <a:ext cx="10360152" cy="685800"/>
          </a:xfrm>
          <a:prstGeom prst="roundRect">
            <a:avLst>
              <a:gd name="adj" fmla="val 10667"/>
            </a:avLst>
          </a:prstGeom>
          <a:solidFill>
            <a:schemeClr val="bg2"/>
          </a:solidFill>
          <a:ln w="12700">
            <a:solidFill>
              <a:schemeClr val="accent6"/>
            </a:solidFill>
            <a:prstDash val="solid"/>
          </a:ln>
        </p:spPr>
      </p:sp>
      <p:sp>
        <p:nvSpPr>
          <p:cNvPr id="26" name="Shape 23"/>
          <p:cNvSpPr/>
          <p:nvPr/>
        </p:nvSpPr>
        <p:spPr>
          <a:xfrm>
            <a:off x="1234440" y="5669280"/>
            <a:ext cx="128016" cy="128016"/>
          </a:xfrm>
          <a:prstGeom prst="ellipse">
            <a:avLst/>
          </a:prstGeom>
          <a:solidFill>
            <a:schemeClr val="accent3"/>
          </a:solidFill>
          <a:ln w="12700">
            <a:solidFill>
              <a:schemeClr val="accent3"/>
            </a:solidFill>
            <a:prstDash val="solid"/>
          </a:ln>
        </p:spPr>
      </p:sp>
      <p:sp>
        <p:nvSpPr>
          <p:cNvPr id="27" name="Text 24"/>
          <p:cNvSpPr txBox="1"/>
          <p:nvPr/>
        </p:nvSpPr>
        <p:spPr>
          <a:xfrm>
            <a:off x="1508760" y="5394960"/>
            <a:ext cx="9445752" cy="685800"/>
          </a:xfrm>
          <a:prstGeom prst="rect">
            <a:avLst/>
          </a:prstGeom>
          <a:noFill/>
          <a:ln/>
        </p:spPr>
        <p:txBody>
          <a:bodyPr wrap="square" lIns="0" tIns="0" rIns="0" bIns="0" rtlCol="0" anchor="ctr"/>
          <a:lstStyle/>
          <a:p>
            <a:pPr indent="0" marL="0">
              <a:buNone/>
            </a:pPr>
            <a:r>
              <a:rPr lang="en-US" sz="1400" dirty="0">
                <a:solidFill>
                  <a:schemeClr val="tx1"/>
                </a:solidFill>
                <a:latin typeface="Plus Jakarta Sans" pitchFamily="34" charset="0"/>
                <a:ea typeface="Plus Jakarta Sans" pitchFamily="34" charset="-122"/>
                <a:cs typeface="Plus Jakarta Sans" pitchFamily="34" charset="-120"/>
              </a:rPr>
              <a:t>Prototype, not audited. Auto-approved proposals are recorded but not executed yet. Devnet by default.</a:t>
            </a:r>
            <a:endParaRPr lang="en-US" sz="14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Eyebrow"/>
          <p:cNvSpPr txBox="1"/>
          <p:nvPr/>
        </p:nvSpPr>
        <p:spPr>
          <a:xfrm>
            <a:off x="914400" y="640080"/>
            <a:ext cx="73152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10 · ROADMAP</a:t>
            </a:r>
            <a:endParaRPr lang="en-US" sz="1100" dirty="0"/>
          </a:p>
        </p:txBody>
      </p:sp>
      <p:sp>
        <p:nvSpPr>
          <p:cNvPr id="4" name="Title"/>
          <p:cNvSpPr txBox="1"/>
          <p:nvPr/>
        </p:nvSpPr>
        <p:spPr>
          <a:xfrm>
            <a:off x="914400" y="960120"/>
            <a:ext cx="9509760" cy="1143000"/>
          </a:xfrm>
          <a:prstGeom prst="rect">
            <a:avLst/>
          </a:prstGeom>
          <a:noFill/>
          <a:ln/>
        </p:spPr>
        <p:txBody>
          <a:bodyPr wrap="square" lIns="0" tIns="0" rIns="0" bIns="0" rtlCol="0" anchor="t"/>
          <a:lstStyle/>
          <a:p>
            <a:pPr indent="0" marL="0">
              <a:buNone/>
            </a:pPr>
            <a:r>
              <a:rPr lang="en-US" sz="3400" dirty="0">
                <a:solidFill>
                  <a:schemeClr val="tx1"/>
                </a:solidFill>
                <a:latin typeface="Plus Jakarta Sans" pitchFamily="34" charset="0"/>
                <a:ea typeface="Plus Jakarta Sans" pitchFamily="34" charset="-122"/>
                <a:cs typeface="Plus Jakarta Sans" pitchFamily="34" charset="-120"/>
              </a:rPr>
              <a:t>Where it goes next.</a:t>
            </a:r>
            <a:endParaRPr lang="en-US" sz="3400" dirty="0"/>
          </a:p>
        </p:txBody>
      </p:sp>
      <p:sp>
        <p:nvSpPr>
          <p:cNvPr id="5" name="Card"/>
          <p:cNvSpPr/>
          <p:nvPr/>
        </p:nvSpPr>
        <p:spPr>
          <a:xfrm>
            <a:off x="914400" y="2468880"/>
            <a:ext cx="3291840" cy="3017520"/>
          </a:xfrm>
          <a:prstGeom prst="roundRect">
            <a:avLst>
              <a:gd name="adj" fmla="val 2424"/>
            </a:avLst>
          </a:prstGeom>
          <a:solidFill>
            <a:schemeClr val="bg2"/>
          </a:solidFill>
          <a:ln w="12700">
            <a:solidFill>
              <a:schemeClr val="accent6"/>
            </a:solidFill>
            <a:prstDash val="solid"/>
          </a:ln>
        </p:spPr>
      </p:sp>
      <p:sp>
        <p:nvSpPr>
          <p:cNvPr id="6" name="Text 3"/>
          <p:cNvSpPr txBox="1"/>
          <p:nvPr/>
        </p:nvSpPr>
        <p:spPr>
          <a:xfrm>
            <a:off x="1234440" y="2743200"/>
            <a:ext cx="265176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NEXT</a:t>
            </a:r>
            <a:endParaRPr lang="en-US" sz="1100" dirty="0"/>
          </a:p>
        </p:txBody>
      </p:sp>
      <p:sp>
        <p:nvSpPr>
          <p:cNvPr id="7" name="Shape 4"/>
          <p:cNvSpPr/>
          <p:nvPr/>
        </p:nvSpPr>
        <p:spPr>
          <a:xfrm>
            <a:off x="1234440" y="3374136"/>
            <a:ext cx="109728" cy="109728"/>
          </a:xfrm>
          <a:prstGeom prst="ellipse">
            <a:avLst/>
          </a:prstGeom>
          <a:solidFill>
            <a:schemeClr val="accent1"/>
          </a:solidFill>
          <a:ln w="12700">
            <a:solidFill>
              <a:schemeClr val="accent1"/>
            </a:solidFill>
            <a:prstDash val="solid"/>
          </a:ln>
        </p:spPr>
      </p:sp>
      <p:sp>
        <p:nvSpPr>
          <p:cNvPr id="8" name="Text 5"/>
          <p:cNvSpPr txBox="1"/>
          <p:nvPr/>
        </p:nvSpPr>
        <p:spPr>
          <a:xfrm>
            <a:off x="1508760" y="3291840"/>
            <a:ext cx="2377440" cy="914400"/>
          </a:xfrm>
          <a:prstGeom prst="rect">
            <a:avLst/>
          </a:prstGeom>
          <a:noFill/>
          <a:ln/>
        </p:spPr>
        <p:txBody>
          <a:bodyPr wrap="square" lIns="0" tIns="0" rIns="0" bIns="0" rtlCol="0" anchor="t"/>
          <a:lstStyle/>
          <a:p>
            <a:pPr indent="0" marL="0">
              <a:buNone/>
            </a:pPr>
            <a:r>
              <a:rPr lang="en-US" sz="1600" dirty="0">
                <a:solidFill>
                  <a:schemeClr val="tx1"/>
                </a:solidFill>
                <a:latin typeface="Plus Jakarta Sans" pitchFamily="34" charset="0"/>
                <a:ea typeface="Plus Jakarta Sans" pitchFamily="34" charset="-122"/>
                <a:cs typeface="Plus Jakarta Sans" pitchFamily="34" charset="-120"/>
              </a:rPr>
              <a:t>Squads multisig and on-chain spending limits</a:t>
            </a:r>
            <a:endParaRPr lang="en-US" sz="1600" dirty="0"/>
          </a:p>
        </p:txBody>
      </p:sp>
      <p:sp>
        <p:nvSpPr>
          <p:cNvPr id="9" name="Shape 6"/>
          <p:cNvSpPr/>
          <p:nvPr/>
        </p:nvSpPr>
        <p:spPr>
          <a:xfrm>
            <a:off x="1234440" y="4425696"/>
            <a:ext cx="109728" cy="109728"/>
          </a:xfrm>
          <a:prstGeom prst="ellipse">
            <a:avLst/>
          </a:prstGeom>
          <a:solidFill>
            <a:schemeClr val="accent1"/>
          </a:solidFill>
          <a:ln w="12700">
            <a:solidFill>
              <a:schemeClr val="accent1"/>
            </a:solidFill>
            <a:prstDash val="solid"/>
          </a:ln>
        </p:spPr>
      </p:sp>
      <p:sp>
        <p:nvSpPr>
          <p:cNvPr id="10" name="Text 7"/>
          <p:cNvSpPr txBox="1"/>
          <p:nvPr/>
        </p:nvSpPr>
        <p:spPr>
          <a:xfrm>
            <a:off x="1508760" y="4343400"/>
            <a:ext cx="2377440" cy="914400"/>
          </a:xfrm>
          <a:prstGeom prst="rect">
            <a:avLst/>
          </a:prstGeom>
          <a:noFill/>
          <a:ln/>
        </p:spPr>
        <p:txBody>
          <a:bodyPr wrap="square" lIns="0" tIns="0" rIns="0" bIns="0" rtlCol="0" anchor="t"/>
          <a:lstStyle/>
          <a:p>
            <a:pPr indent="0" marL="0">
              <a:buNone/>
            </a:pPr>
            <a:r>
              <a:rPr lang="en-US" sz="1600" dirty="0">
                <a:solidFill>
                  <a:schemeClr val="tx1"/>
                </a:solidFill>
                <a:latin typeface="Plus Jakarta Sans" pitchFamily="34" charset="0"/>
                <a:ea typeface="Plus Jakarta Sans" pitchFamily="34" charset="-122"/>
                <a:cs typeface="Plus Jakarta Sans" pitchFamily="34" charset="-120"/>
              </a:rPr>
              <a:t>More decoders: lending, staking, perps</a:t>
            </a:r>
            <a:endParaRPr lang="en-US" sz="1600" dirty="0"/>
          </a:p>
        </p:txBody>
      </p:sp>
      <p:sp>
        <p:nvSpPr>
          <p:cNvPr id="11" name="Card"/>
          <p:cNvSpPr/>
          <p:nvPr/>
        </p:nvSpPr>
        <p:spPr>
          <a:xfrm>
            <a:off x="4448556" y="2468880"/>
            <a:ext cx="3291840" cy="3017520"/>
          </a:xfrm>
          <a:prstGeom prst="roundRect">
            <a:avLst>
              <a:gd name="adj" fmla="val 2424"/>
            </a:avLst>
          </a:prstGeom>
          <a:solidFill>
            <a:schemeClr val="bg2"/>
          </a:solidFill>
          <a:ln w="12700">
            <a:solidFill>
              <a:schemeClr val="accent6"/>
            </a:solidFill>
            <a:prstDash val="solid"/>
          </a:ln>
        </p:spPr>
      </p:sp>
      <p:sp>
        <p:nvSpPr>
          <p:cNvPr id="12" name="Text 9"/>
          <p:cNvSpPr txBox="1"/>
          <p:nvPr/>
        </p:nvSpPr>
        <p:spPr>
          <a:xfrm>
            <a:off x="4768596" y="2743200"/>
            <a:ext cx="265176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LATER</a:t>
            </a:r>
            <a:endParaRPr lang="en-US" sz="1100" dirty="0"/>
          </a:p>
        </p:txBody>
      </p:sp>
      <p:sp>
        <p:nvSpPr>
          <p:cNvPr id="13" name="Shape 10"/>
          <p:cNvSpPr/>
          <p:nvPr/>
        </p:nvSpPr>
        <p:spPr>
          <a:xfrm>
            <a:off x="4768596" y="3374136"/>
            <a:ext cx="109728" cy="109728"/>
          </a:xfrm>
          <a:prstGeom prst="ellipse">
            <a:avLst/>
          </a:prstGeom>
          <a:solidFill>
            <a:schemeClr val="accent1"/>
          </a:solidFill>
          <a:ln w="12700">
            <a:solidFill>
              <a:schemeClr val="accent1"/>
            </a:solidFill>
            <a:prstDash val="solid"/>
          </a:ln>
        </p:spPr>
      </p:sp>
      <p:sp>
        <p:nvSpPr>
          <p:cNvPr id="14" name="Text 11"/>
          <p:cNvSpPr txBox="1"/>
          <p:nvPr/>
        </p:nvSpPr>
        <p:spPr>
          <a:xfrm>
            <a:off x="5042916" y="3291840"/>
            <a:ext cx="2377440" cy="914400"/>
          </a:xfrm>
          <a:prstGeom prst="rect">
            <a:avLst/>
          </a:prstGeom>
          <a:noFill/>
          <a:ln/>
        </p:spPr>
        <p:txBody>
          <a:bodyPr wrap="square" lIns="0" tIns="0" rIns="0" bIns="0" rtlCol="0" anchor="t"/>
          <a:lstStyle/>
          <a:p>
            <a:pPr indent="0" marL="0">
              <a:buNone/>
            </a:pPr>
            <a:r>
              <a:rPr lang="en-US" sz="1600" dirty="0">
                <a:solidFill>
                  <a:schemeClr val="tx1"/>
                </a:solidFill>
                <a:latin typeface="Plus Jakarta Sans" pitchFamily="34" charset="0"/>
                <a:ea typeface="Plus Jakarta Sans" pitchFamily="34" charset="-122"/>
                <a:cs typeface="Plus Jakarta Sans" pitchFamily="34" charset="-120"/>
              </a:rPr>
              <a:t>iOS and hardware-key approvers</a:t>
            </a:r>
            <a:endParaRPr lang="en-US" sz="1600" dirty="0"/>
          </a:p>
        </p:txBody>
      </p:sp>
      <p:sp>
        <p:nvSpPr>
          <p:cNvPr id="15" name="Shape 12"/>
          <p:cNvSpPr/>
          <p:nvPr/>
        </p:nvSpPr>
        <p:spPr>
          <a:xfrm>
            <a:off x="4768596" y="4425696"/>
            <a:ext cx="109728" cy="109728"/>
          </a:xfrm>
          <a:prstGeom prst="ellipse">
            <a:avLst/>
          </a:prstGeom>
          <a:solidFill>
            <a:schemeClr val="accent1"/>
          </a:solidFill>
          <a:ln w="12700">
            <a:solidFill>
              <a:schemeClr val="accent1"/>
            </a:solidFill>
            <a:prstDash val="solid"/>
          </a:ln>
        </p:spPr>
      </p:sp>
      <p:sp>
        <p:nvSpPr>
          <p:cNvPr id="16" name="Text 13"/>
          <p:cNvSpPr txBox="1"/>
          <p:nvPr/>
        </p:nvSpPr>
        <p:spPr>
          <a:xfrm>
            <a:off x="5042916" y="4343400"/>
            <a:ext cx="2377440" cy="914400"/>
          </a:xfrm>
          <a:prstGeom prst="rect">
            <a:avLst/>
          </a:prstGeom>
          <a:noFill/>
          <a:ln/>
        </p:spPr>
        <p:txBody>
          <a:bodyPr wrap="square" lIns="0" tIns="0" rIns="0" bIns="0" rtlCol="0" anchor="t"/>
          <a:lstStyle/>
          <a:p>
            <a:pPr indent="0" marL="0">
              <a:buNone/>
            </a:pPr>
            <a:r>
              <a:rPr lang="en-US" sz="1600" dirty="0">
                <a:solidFill>
                  <a:schemeClr val="tx1"/>
                </a:solidFill>
                <a:latin typeface="Plus Jakarta Sans" pitchFamily="34" charset="0"/>
                <a:ea typeface="Plus Jakarta Sans" pitchFamily="34" charset="-122"/>
                <a:cs typeface="Plus Jakarta Sans" pitchFamily="34" charset="-120"/>
              </a:rPr>
              <a:t>Policy as code, with simulation-based rules</a:t>
            </a:r>
            <a:endParaRPr lang="en-US" sz="1600" dirty="0"/>
          </a:p>
        </p:txBody>
      </p:sp>
      <p:sp>
        <p:nvSpPr>
          <p:cNvPr id="17" name="Card"/>
          <p:cNvSpPr/>
          <p:nvPr/>
        </p:nvSpPr>
        <p:spPr>
          <a:xfrm>
            <a:off x="7982712" y="2468880"/>
            <a:ext cx="3291840" cy="3017520"/>
          </a:xfrm>
          <a:prstGeom prst="roundRect">
            <a:avLst>
              <a:gd name="adj" fmla="val 2424"/>
            </a:avLst>
          </a:prstGeom>
          <a:solidFill>
            <a:schemeClr val="bg2"/>
          </a:solidFill>
          <a:ln w="12700">
            <a:solidFill>
              <a:schemeClr val="accent6"/>
            </a:solidFill>
            <a:prstDash val="solid"/>
          </a:ln>
        </p:spPr>
      </p:sp>
      <p:sp>
        <p:nvSpPr>
          <p:cNvPr id="18" name="Text 15"/>
          <p:cNvSpPr txBox="1"/>
          <p:nvPr/>
        </p:nvSpPr>
        <p:spPr>
          <a:xfrm>
            <a:off x="8302752" y="2743200"/>
            <a:ext cx="2651760" cy="274320"/>
          </a:xfrm>
          <a:prstGeom prst="rect">
            <a:avLst/>
          </a:prstGeom>
          <a:noFill/>
          <a:ln/>
        </p:spPr>
        <p:txBody>
          <a:bodyPr wrap="square" lIns="0" tIns="0" rIns="0" bIns="0" rtlCol="0" anchor="ctr"/>
          <a:lstStyle/>
          <a:p>
            <a:pPr indent="0" marL="0">
              <a:buNone/>
            </a:pPr>
            <a:r>
              <a:rPr lang="en-US" sz="1100" spc="200" kern="0" dirty="0">
                <a:solidFill>
                  <a:schemeClr val="accent1"/>
                </a:solidFill>
                <a:latin typeface="Geist Mono" pitchFamily="34" charset="0"/>
                <a:ea typeface="Geist Mono" pitchFamily="34" charset="-122"/>
                <a:cs typeface="Geist Mono" pitchFamily="34" charset="-120"/>
              </a:rPr>
              <a:t>ECOSYSTEM</a:t>
            </a:r>
            <a:endParaRPr lang="en-US" sz="1100" dirty="0"/>
          </a:p>
        </p:txBody>
      </p:sp>
      <p:sp>
        <p:nvSpPr>
          <p:cNvPr id="19" name="Shape 16"/>
          <p:cNvSpPr/>
          <p:nvPr/>
        </p:nvSpPr>
        <p:spPr>
          <a:xfrm>
            <a:off x="8302752" y="3374136"/>
            <a:ext cx="109728" cy="109728"/>
          </a:xfrm>
          <a:prstGeom prst="ellipse">
            <a:avLst/>
          </a:prstGeom>
          <a:solidFill>
            <a:schemeClr val="accent1"/>
          </a:solidFill>
          <a:ln w="12700">
            <a:solidFill>
              <a:schemeClr val="accent1"/>
            </a:solidFill>
            <a:prstDash val="solid"/>
          </a:ln>
        </p:spPr>
      </p:sp>
      <p:sp>
        <p:nvSpPr>
          <p:cNvPr id="20" name="Text 17"/>
          <p:cNvSpPr txBox="1"/>
          <p:nvPr/>
        </p:nvSpPr>
        <p:spPr>
          <a:xfrm>
            <a:off x="8577072" y="3291840"/>
            <a:ext cx="2377440" cy="914400"/>
          </a:xfrm>
          <a:prstGeom prst="rect">
            <a:avLst/>
          </a:prstGeom>
          <a:noFill/>
          <a:ln/>
        </p:spPr>
        <p:txBody>
          <a:bodyPr wrap="square" lIns="0" tIns="0" rIns="0" bIns="0" rtlCol="0" anchor="t"/>
          <a:lstStyle/>
          <a:p>
            <a:pPr indent="0" marL="0">
              <a:buNone/>
            </a:pPr>
            <a:r>
              <a:rPr lang="en-US" sz="1600" dirty="0">
                <a:solidFill>
                  <a:schemeClr val="tx1"/>
                </a:solidFill>
                <a:latin typeface="Plus Jakarta Sans" pitchFamily="34" charset="0"/>
                <a:ea typeface="Plus Jakarta Sans" pitchFamily="34" charset="-122"/>
                <a:cs typeface="Plus Jakarta Sans" pitchFamily="34" charset="-120"/>
              </a:rPr>
              <a:t>SKR integration for the Seeker ecosystem</a:t>
            </a:r>
            <a:endParaRPr lang="en-US" sz="1600" dirty="0"/>
          </a:p>
        </p:txBody>
      </p:sp>
      <p:sp>
        <p:nvSpPr>
          <p:cNvPr id="21" name="Shape 18"/>
          <p:cNvSpPr/>
          <p:nvPr/>
        </p:nvSpPr>
        <p:spPr>
          <a:xfrm>
            <a:off x="8302752" y="4425696"/>
            <a:ext cx="109728" cy="109728"/>
          </a:xfrm>
          <a:prstGeom prst="ellipse">
            <a:avLst/>
          </a:prstGeom>
          <a:solidFill>
            <a:schemeClr val="accent1"/>
          </a:solidFill>
          <a:ln w="12700">
            <a:solidFill>
              <a:schemeClr val="accent1"/>
            </a:solidFill>
            <a:prstDash val="solid"/>
          </a:ln>
        </p:spPr>
      </p:sp>
      <p:sp>
        <p:nvSpPr>
          <p:cNvPr id="22" name="Text 19"/>
          <p:cNvSpPr txBox="1"/>
          <p:nvPr/>
        </p:nvSpPr>
        <p:spPr>
          <a:xfrm>
            <a:off x="8577072" y="4343400"/>
            <a:ext cx="2377440" cy="914400"/>
          </a:xfrm>
          <a:prstGeom prst="rect">
            <a:avLst/>
          </a:prstGeom>
          <a:noFill/>
          <a:ln/>
        </p:spPr>
        <p:txBody>
          <a:bodyPr wrap="square" lIns="0" tIns="0" rIns="0" bIns="0" rtlCol="0" anchor="t"/>
          <a:lstStyle/>
          <a:p>
            <a:pPr indent="0" marL="0">
              <a:buNone/>
            </a:pPr>
            <a:r>
              <a:rPr lang="en-US" sz="1600" dirty="0">
                <a:solidFill>
                  <a:schemeClr val="tx1"/>
                </a:solidFill>
                <a:latin typeface="Plus Jakarta Sans" pitchFamily="34" charset="0"/>
                <a:ea typeface="Plus Jakarta Sans" pitchFamily="34" charset="-122"/>
                <a:cs typeface="Plus Jakarta Sans" pitchFamily="34" charset="-120"/>
              </a:rPr>
              <a:t>Agent reputation and audit exports</a:t>
            </a:r>
            <a:endParaRPr lang="en-US" sz="1600" dirty="0"/>
          </a:p>
        </p:txBody>
      </p:sp>
      <p:sp>
        <p:nvSpPr>
          <p:cNvPr id="25" name="Slide Number Placeholder 0"/>
          <p:cNvSpPr>
            <a:spLocks noGrp="1"/>
          </p:cNvSpPr>
          <p:nvPr>
            <p:ph type="sldNum" sz="quarter" idx="4294967295"/>
          </p:nvPr>
        </p:nvSpPr>
        <p:spPr>
          <a:xfrm>
            <a:off x="10424160" y="6355080"/>
            <a:ext cx="8503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A9A"/>
                </a:solidFill>
                <a:latin typeface="Geist Mono"/>
                <a:ea typeface="Geist Mono"/>
                <a:cs typeface="Geist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Braille knot" descr="knot-lavender.png">    </p:cNvPr>
          <p:cNvPicPr>
            <a:picLocks noChangeAspect="1"/>
          </p:cNvPicPr>
          <p:nvPr/>
        </p:nvPicPr>
        <p:blipFill>
          <a:blip r:embed="rId1"/>
          <a:stretch>
            <a:fillRect/>
          </a:stretch>
        </p:blipFill>
        <p:spPr>
          <a:xfrm>
            <a:off x="7223760" y="1280160"/>
            <a:ext cx="5486400" cy="5486400"/>
          </a:xfrm>
          <a:prstGeom prst="rect">
            <a:avLst/>
          </a:prstGeom>
        </p:spPr>
      </p:pic>
      <p:sp>
        <p:nvSpPr>
          <p:cNvPr id="4" name="Text 0"/>
          <p:cNvSpPr txBox="1"/>
          <p:nvPr/>
        </p:nvSpPr>
        <p:spPr>
          <a:xfrm>
            <a:off x="914400" y="1097280"/>
            <a:ext cx="4572000" cy="274320"/>
          </a:xfrm>
          <a:prstGeom prst="rect">
            <a:avLst/>
          </a:prstGeom>
          <a:noFill/>
          <a:ln/>
        </p:spPr>
        <p:txBody>
          <a:bodyPr wrap="square" lIns="0" tIns="0" rIns="0" bIns="0" rtlCol="0" anchor="ctr"/>
          <a:lstStyle/>
          <a:p>
            <a:pPr indent="0" marL="0">
              <a:buNone/>
            </a:pPr>
            <a:r>
              <a:rPr lang="en-US" sz="1100" spc="200" kern="0" dirty="0">
                <a:solidFill>
                  <a:schemeClr val="tx2"/>
                </a:solidFill>
                <a:latin typeface="Geist Mono" pitchFamily="34" charset="0"/>
                <a:ea typeface="Geist Mono" pitchFamily="34" charset="-122"/>
                <a:cs typeface="Geist Mono" pitchFamily="34" charset="-120"/>
              </a:rPr>
              <a:t>GET NOD</a:t>
            </a:r>
            <a:endParaRPr lang="en-US" sz="1100" dirty="0"/>
          </a:p>
        </p:txBody>
      </p:sp>
      <p:sp>
        <p:nvSpPr>
          <p:cNvPr id="5" name="Title"/>
          <p:cNvSpPr txBox="1"/>
          <p:nvPr/>
        </p:nvSpPr>
        <p:spPr>
          <a:xfrm>
            <a:off x="914400" y="1828800"/>
            <a:ext cx="6400800" cy="2286000"/>
          </a:xfrm>
          <a:prstGeom prst="rect">
            <a:avLst/>
          </a:prstGeom>
          <a:noFill/>
          <a:ln/>
        </p:spPr>
        <p:txBody>
          <a:bodyPr wrap="square" lIns="0" tIns="0" rIns="0" bIns="0" rtlCol="0" anchor="t"/>
          <a:lstStyle/>
          <a:p>
            <a:pPr indent="0" marL="0">
              <a:buNone/>
            </a:pPr>
            <a:r>
              <a:rPr lang="en-US" sz="4800" b="1" dirty="0">
                <a:solidFill>
                  <a:schemeClr val="tx1"/>
                </a:solidFill>
                <a:latin typeface="Plus Jakarta Sans" pitchFamily="34" charset="0"/>
                <a:ea typeface="Plus Jakarta Sans" pitchFamily="34" charset="-122"/>
                <a:cs typeface="Plus Jakarta Sans" pitchFamily="34" charset="-120"/>
              </a:rPr>
              <a:t>Nothing moves</a:t>
            </a:r>
            <a:endParaRPr lang="en-US" sz="4800" dirty="0"/>
          </a:p>
          <a:p>
            <a:pPr indent="0" marL="0">
              <a:buNone/>
            </a:pPr>
            <a:r>
              <a:rPr lang="en-US" sz="4800" b="1" dirty="0">
                <a:solidFill>
                  <a:schemeClr val="tx1"/>
                </a:solidFill>
                <a:latin typeface="Plus Jakarta Sans" pitchFamily="34" charset="0"/>
                <a:ea typeface="Plus Jakarta Sans" pitchFamily="34" charset="-122"/>
                <a:cs typeface="Plus Jakarta Sans" pitchFamily="34" charset="-120"/>
              </a:rPr>
              <a:t>without your </a:t>
            </a:r>
            <a:pPr indent="0" marL="0">
              <a:buNone/>
            </a:pPr>
            <a:r>
              <a:rPr lang="en-US" sz="4800" b="1" dirty="0">
                <a:solidFill>
                  <a:schemeClr val="accent1"/>
                </a:solidFill>
                <a:latin typeface="Plus Jakarta Sans" pitchFamily="34" charset="0"/>
                <a:ea typeface="Plus Jakarta Sans" pitchFamily="34" charset="-122"/>
                <a:cs typeface="Plus Jakarta Sans" pitchFamily="34" charset="-120"/>
              </a:rPr>
              <a:t>Nod.</a:t>
            </a:r>
            <a:endParaRPr lang="en-US" sz="4800" dirty="0"/>
          </a:p>
        </p:txBody>
      </p:sp>
      <p:sp>
        <p:nvSpPr>
          <p:cNvPr id="6" name="Text 2"/>
          <p:cNvSpPr txBox="1"/>
          <p:nvPr/>
        </p:nvSpPr>
        <p:spPr>
          <a:xfrm>
            <a:off x="914400" y="4206240"/>
            <a:ext cx="5303520" cy="822960"/>
          </a:xfrm>
          <a:prstGeom prst="rect">
            <a:avLst/>
          </a:prstGeom>
          <a:noFill/>
          <a:ln/>
        </p:spPr>
        <p:txBody>
          <a:bodyPr wrap="square" lIns="0" tIns="0" rIns="0" bIns="0" rtlCol="0" anchor="t"/>
          <a:lstStyle/>
          <a:p>
            <a:pPr indent="0" marL="0">
              <a:buNone/>
            </a:pPr>
            <a:r>
              <a:rPr lang="en-US" sz="1800" dirty="0">
                <a:solidFill>
                  <a:schemeClr val="tx2"/>
                </a:solidFill>
                <a:latin typeface="Plus Jakarta Sans" pitchFamily="34" charset="0"/>
                <a:ea typeface="Plus Jakarta Sans" pitchFamily="34" charset="-122"/>
                <a:cs typeface="Plus Jakarta Sans" pitchFamily="34" charset="-120"/>
              </a:rPr>
              <a:t>An Android app, an open-source backend and an SDK. Running on Solana devnet.</a:t>
            </a:r>
            <a:endParaRPr lang="en-US" sz="1800" dirty="0"/>
          </a:p>
        </p:txBody>
      </p:sp>
      <p:sp>
        <p:nvSpPr>
          <p:cNvPr id="7" name="Shape 3"/>
          <p:cNvSpPr/>
          <p:nvPr/>
        </p:nvSpPr>
        <p:spPr>
          <a:xfrm>
            <a:off x="914400" y="5394960"/>
            <a:ext cx="1097280" cy="502920"/>
          </a:xfrm>
          <a:prstGeom prst="roundRect">
            <a:avLst>
              <a:gd name="adj" fmla="val 14545"/>
            </a:avLst>
          </a:prstGeom>
          <a:solidFill>
            <a:schemeClr val="bg1"/>
          </a:solidFill>
          <a:ln w="12700">
            <a:solidFill>
              <a:schemeClr val="accent6"/>
            </a:solidFill>
            <a:prstDash val="solid"/>
          </a:ln>
        </p:spPr>
      </p:sp>
      <p:sp>
        <p:nvSpPr>
          <p:cNvPr id="8" name="Text 4"/>
          <p:cNvSpPr txBox="1"/>
          <p:nvPr/>
        </p:nvSpPr>
        <p:spPr>
          <a:xfrm>
            <a:off x="914400" y="5394960"/>
            <a:ext cx="1097280" cy="502920"/>
          </a:xfrm>
          <a:prstGeom prst="rect">
            <a:avLst/>
          </a:prstGeom>
          <a:noFill/>
          <a:ln/>
        </p:spPr>
        <p:txBody>
          <a:bodyPr wrap="square" lIns="0" tIns="0" rIns="0" bIns="0" rtlCol="0" anchor="ctr"/>
          <a:lstStyle/>
          <a:p>
            <a:pPr algn="ctr" indent="0" marL="0">
              <a:buNone/>
            </a:pPr>
            <a:r>
              <a:rPr lang="en-US" sz="1100" spc="100" kern="0" dirty="0">
                <a:solidFill>
                  <a:schemeClr val="tx1"/>
                </a:solidFill>
                <a:latin typeface="Geist Mono" pitchFamily="34" charset="0"/>
                <a:ea typeface="Geist Mono" pitchFamily="34" charset="-122"/>
                <a:cs typeface="Geist Mono" pitchFamily="34" charset="-120"/>
              </a:rPr>
              <a:t>APK</a:t>
            </a:r>
            <a:endParaRPr lang="en-US" sz="1100" dirty="0"/>
          </a:p>
        </p:txBody>
      </p:sp>
      <p:sp>
        <p:nvSpPr>
          <p:cNvPr id="9" name="Shape 5"/>
          <p:cNvSpPr/>
          <p:nvPr/>
        </p:nvSpPr>
        <p:spPr>
          <a:xfrm>
            <a:off x="2148840" y="5394960"/>
            <a:ext cx="1737360" cy="502920"/>
          </a:xfrm>
          <a:prstGeom prst="roundRect">
            <a:avLst>
              <a:gd name="adj" fmla="val 14545"/>
            </a:avLst>
          </a:prstGeom>
          <a:solidFill>
            <a:schemeClr val="bg1"/>
          </a:solidFill>
          <a:ln w="12700">
            <a:solidFill>
              <a:schemeClr val="accent6"/>
            </a:solidFill>
            <a:prstDash val="solid"/>
          </a:ln>
        </p:spPr>
      </p:sp>
      <p:sp>
        <p:nvSpPr>
          <p:cNvPr id="10" name="Text 6"/>
          <p:cNvSpPr txBox="1"/>
          <p:nvPr/>
        </p:nvSpPr>
        <p:spPr>
          <a:xfrm>
            <a:off x="2148840" y="5394960"/>
            <a:ext cx="1737360" cy="502920"/>
          </a:xfrm>
          <a:prstGeom prst="rect">
            <a:avLst/>
          </a:prstGeom>
          <a:noFill/>
          <a:ln/>
        </p:spPr>
        <p:txBody>
          <a:bodyPr wrap="square" lIns="0" tIns="0" rIns="0" bIns="0" rtlCol="0" anchor="ctr"/>
          <a:lstStyle/>
          <a:p>
            <a:pPr algn="ctr" indent="0" marL="0">
              <a:buNone/>
            </a:pPr>
            <a:r>
              <a:rPr lang="en-US" sz="1100" spc="100" kern="0" dirty="0">
                <a:solidFill>
                  <a:schemeClr val="tx1"/>
                </a:solidFill>
                <a:latin typeface="Geist Mono" pitchFamily="34" charset="0"/>
                <a:ea typeface="Geist Mono" pitchFamily="34" charset="-122"/>
                <a:cs typeface="Geist Mono" pitchFamily="34" charset="-120"/>
              </a:rPr>
              <a:t>REPOSITORY</a:t>
            </a:r>
            <a:endParaRPr lang="en-US" sz="1100" dirty="0"/>
          </a:p>
        </p:txBody>
      </p:sp>
      <p:sp>
        <p:nvSpPr>
          <p:cNvPr id="11" name="Shape 7"/>
          <p:cNvSpPr/>
          <p:nvPr/>
        </p:nvSpPr>
        <p:spPr>
          <a:xfrm>
            <a:off x="4023360" y="5394960"/>
            <a:ext cx="1737360" cy="502920"/>
          </a:xfrm>
          <a:prstGeom prst="roundRect">
            <a:avLst>
              <a:gd name="adj" fmla="val 14545"/>
            </a:avLst>
          </a:prstGeom>
          <a:solidFill>
            <a:schemeClr val="bg1"/>
          </a:solidFill>
          <a:ln w="12700">
            <a:solidFill>
              <a:schemeClr val="accent6"/>
            </a:solidFill>
            <a:prstDash val="solid"/>
          </a:ln>
        </p:spPr>
      </p:sp>
      <p:sp>
        <p:nvSpPr>
          <p:cNvPr id="12" name="Text 8"/>
          <p:cNvSpPr txBox="1"/>
          <p:nvPr/>
        </p:nvSpPr>
        <p:spPr>
          <a:xfrm>
            <a:off x="4023360" y="5394960"/>
            <a:ext cx="1737360" cy="502920"/>
          </a:xfrm>
          <a:prstGeom prst="rect">
            <a:avLst/>
          </a:prstGeom>
          <a:noFill/>
          <a:ln/>
        </p:spPr>
        <p:txBody>
          <a:bodyPr wrap="square" lIns="0" tIns="0" rIns="0" bIns="0" rtlCol="0" anchor="ctr"/>
          <a:lstStyle/>
          <a:p>
            <a:pPr algn="ctr" indent="0" marL="0">
              <a:buNone/>
            </a:pPr>
            <a:r>
              <a:rPr lang="en-US" sz="1100" spc="100" kern="0" dirty="0">
                <a:solidFill>
                  <a:schemeClr val="tx1"/>
                </a:solidFill>
                <a:latin typeface="Geist Mono" pitchFamily="34" charset="0"/>
                <a:ea typeface="Geist Mono" pitchFamily="34" charset="-122"/>
                <a:cs typeface="Geist Mono" pitchFamily="34" charset="-120"/>
              </a:rPr>
              <a:t>DEMO VIDEO</a:t>
            </a:r>
            <a:endParaRPr lang="en-US" sz="1100" dirty="0"/>
          </a:p>
        </p:txBody>
      </p:sp>
      <p:sp>
        <p:nvSpPr>
          <p:cNvPr id="13" name="Shape 9"/>
          <p:cNvSpPr/>
          <p:nvPr/>
        </p:nvSpPr>
        <p:spPr>
          <a:xfrm>
            <a:off x="5897880" y="5394960"/>
            <a:ext cx="1097280" cy="502920"/>
          </a:xfrm>
          <a:prstGeom prst="roundRect">
            <a:avLst>
              <a:gd name="adj" fmla="val 14545"/>
            </a:avLst>
          </a:prstGeom>
          <a:solidFill>
            <a:schemeClr val="bg1"/>
          </a:solidFill>
          <a:ln w="12700">
            <a:solidFill>
              <a:schemeClr val="accent6"/>
            </a:solidFill>
            <a:prstDash val="solid"/>
          </a:ln>
        </p:spPr>
      </p:sp>
      <p:sp>
        <p:nvSpPr>
          <p:cNvPr id="14" name="Text 10"/>
          <p:cNvSpPr txBox="1"/>
          <p:nvPr/>
        </p:nvSpPr>
        <p:spPr>
          <a:xfrm>
            <a:off x="5897880" y="5394960"/>
            <a:ext cx="1097280" cy="502920"/>
          </a:xfrm>
          <a:prstGeom prst="rect">
            <a:avLst/>
          </a:prstGeom>
          <a:noFill/>
          <a:ln/>
        </p:spPr>
        <p:txBody>
          <a:bodyPr wrap="square" lIns="0" tIns="0" rIns="0" bIns="0" rtlCol="0" anchor="ctr"/>
          <a:lstStyle/>
          <a:p>
            <a:pPr algn="ctr" indent="0" marL="0">
              <a:buNone/>
            </a:pPr>
            <a:r>
              <a:rPr lang="en-US" sz="1100" spc="100" kern="0" dirty="0">
                <a:solidFill>
                  <a:schemeClr val="tx1"/>
                </a:solidFill>
                <a:latin typeface="Geist Mono" pitchFamily="34" charset="0"/>
                <a:ea typeface="Geist Mono" pitchFamily="34" charset="-122"/>
                <a:cs typeface="Geist Mono" pitchFamily="34" charset="-120"/>
              </a:rPr>
              <a:t>DOCS</a:t>
            </a:r>
            <a:endParaRPr lang="en-US" sz="1100" dirty="0"/>
          </a:p>
        </p:txBody>
      </p:sp>
    </p:spTree>
  </p:cSld>
  <p:clrMapOvr>
    <a:masterClrMapping/>
  </p:clrMapOvr>
</p:sld>
</file>

<file path=ppt/theme/theme1.xml><?xml version="1.0" encoding="utf-8"?>
<a:theme xmlns:a="http://schemas.openxmlformats.org/drawingml/2006/main" name="Nod">
  <a:themeElements>
    <a:clrScheme name="Nod">
      <a:dk1>
        <a:srgbClr val="F3F2F2"/>
      </a:dk1>
      <a:lt1>
        <a:srgbClr val="070606"/>
      </a:lt1>
      <a:dk2>
        <a:srgbClr val="9C9A9A"/>
      </a:dk2>
      <a:lt2>
        <a:srgbClr val="131212"/>
      </a:lt2>
      <a:accent1>
        <a:srgbClr val="99ACFF"/>
      </a:accent1>
      <a:accent2>
        <a:srgbClr val="4CD7A0"/>
      </a:accent2>
      <a:accent3>
        <a:srgbClr val="F5B25B"/>
      </a:accent3>
      <a:accent4>
        <a:srgbClr val="FF7A7A"/>
      </a:accent4>
      <a:accent5>
        <a:srgbClr val="6C8CF7"/>
      </a:accent5>
      <a:accent6>
        <a:srgbClr val="292727"/>
      </a:accent6>
      <a:hlink>
        <a:srgbClr val="99ACFF"/>
      </a:hlink>
      <a:folHlink>
        <a:srgbClr val="9C9A9A"/>
      </a:folHlink>
    </a:clrScheme>
    <a:fontScheme name="Nod">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 nothing moves without your Nod</dc:title>
  <dc:subject>PptxGenJS Presentation</dc:subject>
  <dc:creator>Nod</dc:creator>
  <cp:lastModifiedBy>Nod</cp:lastModifiedBy>
  <cp:revision>1</cp:revision>
  <dcterms:created xsi:type="dcterms:W3CDTF">2026-10-10T19:11:12Z</dcterms:created>
  <dcterms:modified xsi:type="dcterms:W3CDTF">2026-10-10T19:11:12Z</dcterms:modified>
</cp:coreProperties>
</file>